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6"/>
  </p:notesMasterIdLst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6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2" Type="http://schemas.openxmlformats.org/officeDocument/2006/relationships/image" Target="media/image3.svg" /></Relationships>
</file>

<file path=ppt/slides/_rels/slide3.xml.rels><?xml version="1.0" encoding="UTF-8" standalone="yes"?><Relationships xmlns="http://schemas.openxmlformats.org/package/2006/relationships"><Relationship Id="rId6" Type="http://schemas.openxmlformats.org/officeDocument/2006/relationships/image" Target="media/image9.svg" /><Relationship Id="rId3" Type="http://schemas.openxmlformats.org/officeDocument/2006/relationships/image" Target="media/image6.svg" /><Relationship Id="rId2" Type="http://schemas.openxmlformats.org/officeDocument/2006/relationships/image" Target="media/image5.svg" /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7.svg" /><Relationship Id="rId5" Type="http://schemas.openxmlformats.org/officeDocument/2006/relationships/image" Target="media/image8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&#10;  width: 1280, height: 720, padding: 0,&#10;  background: 'linear-gradient(135deg, #0B1B33 0%, #132C52 55%, #0B1B33 100%)',&#10;  flexDirection: 'row', overflow: 'hidden', position: 'relative',&#10;}}&gt;&#10;  {/* ---- 背景星点场（绝对定位，atmosphere） ---- */}&#10;  &lt;Box style={{ position: 'absolute', top: 0, left: 0, width: 1280, height: 720, zIndex: 0 }}&gt;&#10;    &lt;svg width={1280} height={720} viewBox='0 0 1280 720'&gt;&#10;      &lt;circle cx='120' cy='80' r='1.6' fill='#E8EEF7' opacity='0.5' /&gt;&#10;      &lt;circle cx='320' cy='150' r='1.2' fill='#E8EEF7' opacity='0.35' /&gt;&#10;      &lt;circle cx='90' cy='300' r='1.8' fill='#22D3EE' opacity='0.4' /&gt;&#10;      &lt;circle cx='250' cy='420' r='1.2' fill='#E8EEF7' opacity='0.3' /&gt;&#10;      &lt;circle cx='480' cy='60' r='1.4' fill='#E8EEF7' opacity='0.4' /&gt;&#10;      &lt;circle cx='620' cy='120' r='1.1' fill='#E8EEF7' opacity='0.3' /&gt;&#10;      &lt;circle cx='150' cy='620' r='1.5' fill='#E8EEF7' opacity='0.35' /&gt;&#10;      &lt;circle cx='420' cy='540' r='1.1' fill='#22D3EE' opacity='0.3' /&gt;&#10;      &lt;circle cx='560' cy='660' r='1.3' fill='#E8EEF7' opacity='0.3' /&gt;&#10;      &lt;circle cx='700' cy='40' r='1.2' fill='#E8EEF7' opacity='0.35' /&gt;&#10;      &lt;circle cx='1180' cy='90' r='1.5' fill='#E8EEF7' opacity='0.4' /&gt;&#10;      &lt;circle cx='1050' cy='650' r='1.2' fill='#E8EEF7' opacity='0.3' /&gt;&#10;      {/* ---- 右侧 L1 主视觉：轨道弧 + 地球 + 卫星 + 波束锥 ---- */}&#10;      &lt;g&gt;&#10;        {/* 地球弧（右下大圆的一部分） */}&#10;        &lt;circle cx='1010' cy='620' r='260' fill='#132C52' stroke='#3B82F6' strokeWidth='1.5' opacity='0.9' /&gt;&#10;        &lt;circle cx='1010' cy='620' r='260' fill='none' stroke='#22D3EE' strokeWidth='0.8' opacity='0.35' /&gt;&#10;        {/* 经纬线 */}&#10;        &lt;path d='M 750 620 A 260 90 0 0 0 1270 620' fill='none' stroke='#3B82F6' strokeWidth='0.8' opacity='0.4' /&gt;&#10;        &lt;path d='M 780 500 A 230 70 0 0 0 1240 500' fill='none' stroke='#3B82F6' strokeWidth='0.8' opacity='0.3' /&gt;&#10;        &lt;path d='M 1010 360 A 90 260 0 0 0 1010 880' fill='none' stroke='#3B82F6' strokeWidth='0.8' opacity='0.3' /&gt;&#10;        &lt;path d='M 1010 360 A 180 260 0 0 0 1010 880' fill='none' stroke='#3B82F6' strokeWidth='0.8' opacity='0.25' /&gt;&#10;        {/* 轨道弧线 ×3 */}&#10;        &lt;ellipse cx='1010' cy='620' rx='380' ry='130' fill='none' stroke='#22D3EE' strokeWidth='1.2' opacity='0.45' transform='rotate(-18 1010 620)' /&gt;&#10;        &lt;ellipse cx='1010' cy='620' rx='450' ry='165' fill='none' stroke='#3B82F6' strokeWidth='1' opacity='0.3' transform='rotate(-18 1010 620)' /&gt;&#10;        &lt;ellipse cx='1010' cy='620' rx='310' ry='100' fill='none' stroke='#3B82F6' strokeWidth='0.8' opacity='0.25' transform='rotate(14 1010 620)' /&gt;&#10;        {/* 卫星节点（轨道上） */}&#10;        &lt;g&gt;&#10;          &lt;rect x='742' y='404' width='16' height='10' rx='2' fill='#E8EEF7' /&gt;&#10;          &lt;rect x='724' y='406' width='14' height='6' rx='1' fill='#3B82F6' /&gt;&#10;          &lt;rect x='762' y='406' width='14' height='6' rx='1' fill='#3B82F6' /&gt;&#10;          &lt;circle cx='750' cy='409' r='26' fill='none' stroke='#F59E0B' strokeWidth='1' opacity='0.5' /&gt;&#10;          {/* 波束锥指向地球 */}&#10;          &lt;path d='M 750 420 L 880 560 L 830 585 Z' fill='#22D3EE' opacity='0.16' /&gt;&#10;          &lt;path d='M 750 420 L 880 560' fill='none' stroke='#22D3EE' strokeWidth='0.8' opacity='0.5' strokeDasharray='4 4' /&gt;&#10;          &lt;path d='M 750 420 L 830 585' fill='none' stroke='#22D3EE' strokeWidth='0.8' opacity='0.5' strokeDasharray='4 4' /&gt;&#10;        &lt;/g&gt;&#10;        {/* 第二卫星（小） */}&#10;        &lt;g opacity='0.7'&gt;&#10;          &lt;rect x='1148' y='470' width='11' height='7' rx='1.5' fill='#E8EEF7' /&gt;&#10;          &lt;rect x='1136' y='471' width='9' height='4' rx='1' fill='#3B82F6' /&gt;&#10;          &lt;rect x='1163' y='471' width='9' height='4' rx='1' fill='#3B82F6' /&gt;&#10;        &lt;/g&gt;&#10;        {/* GEO 定点标注 */}&#10;        &lt;circle cx='880' cy='560' r='4' fill='#F59E0B' /&gt;&#10;        &lt;circle cx='880' cy='560' r='9' fill='none' stroke='#F59E0B' strokeWidth='1' opacity='0.6' /&gt;&#10;      &lt;/g&gt;&#10;    &lt;/svg&gt;&#10;  &lt;/Box&gt;&#10;&#10;  {/* ---- 左侧骑线文字区（占 45%） ---- */}&#10;  &lt;Box style={{&#10;    position: 'relative', zIndex: 1, width: 620, height: 720,&#10;    flexDirection: 'column', justifyContent: 'center', gap: 26,&#10;    padding: '0 0 0 70px',&#10;  }}&gt;&#10;    {/* 顶部标签条 */}&#10;    &lt;Box style={{&#10;      flexDirection: 'row', alignItems: 'center', gap: 12, width: 388,&#10;      padding: '8px 18px', borderRadius: 20,&#10;      background: 'rgba(59,130,246,0.12)', border: '1px solid rgba(34,211,238,0.35)',&#10;    }}&gt;&#10;      &lt;Box style={{ width: 8, height: 8, borderRadius: 4, background: '#22D3EE' }} /&gt;&#10;      &lt;Text style={{ fontSize: 15, color: '#93A5BE', letterSpacing: 2, fontFamily: &quot;'Source Han Sans SC','Microsoft YaHei',sans-serif&quot; }}&gt;&#10;        技术周报 · 2026.09.20 — 09.23&#10;      &lt;/Text&gt;&#10;    &lt;/Box&gt;&#10;&#10;    {/* 主标题 64px */}&#10;    &lt;Text style={{&#10;      fontSize: 64, fontWeight: 'bold', color: '#E8EEF7', lineHeight: 1.2,&#10;      letterSpacing: 1, fontFamily: &quot;'Source Han Sans SC','Microsoft YaHei',sans-serif&quot;,&#10;    }}&gt;&#10;      载荷方案设计器&#10;    &lt;/Text&gt;&#10;&#10;    {/* 副题渐变条 */}&#10;    &lt;Box style={{ flexDirection: 'row', alignItems: 'center', gap: 14 }}&gt;&#10;      &lt;Box style={{ width: 56, height: 4, borderRadius: 2, background: 'linear-gradient(90deg, #3B82F6, #22D3EE)' }} /&gt;&#10;      &lt;Text style={{&#10;        fontSize: 26, fontWeight: 600, color: '#22D3EE', letterSpacing: 3,&#10;        fontFamily: &quot;'Source Han Sans SC','Microsoft YaHei',sans-serif&quot;,&#10;      }}&gt;&#10;        本周技术总结&#10;      &lt;/Text&gt;&#10;    &lt;/Box&gt;&#10;&#10;    {/* 一句话概括 */}&#10;    &lt;Text style={{&#10;      fontSize: 17, color: '#93A5BE', lineHeight: 1.7, width: 480,&#10;      fontFamily: &quot;'Source Han Sans SC','Microsoft YaHei',sans-serif&quot;,&#10;    }}&gt;&#10;      纯 Python 零依赖完成 &lt;span style={{ color: '#E8EEF7', fontWeight: 'bold' }}&gt;v1 → v5.3 → v2&lt;/span&gt; 三轮迭代：&#10;      五引擎物理内核 · 闭环评级与 D 级救援 ·&#10;      &lt;span style={{ color: '#F59E0B', fontWeight: 'bold' }}&gt; 245+ 项自动化验证全绿&lt;/span&gt;&#10;    &lt;/Text&gt;&#10;&#10;    {/* 落款 */}&#10;    &lt;Box style={{ flexDirection: 'row', alignItems: 'center', gap: 10, marginTop: 18 }}&gt;&#10;      &lt;Box style={{ width: 3, height: 18, background: '#F59E0B', borderRadius: 2 }} /&gt;&#10;      &lt;Text style={{ fontSize: 15, color: '#5A6B84', letterSpacing: 1, fontFamily: &quot;'Source Han Sans SC','Microsoft YaHei',sans-serif&quot; }}&gt;&#10;        文生载荷项目组 · 航天系统工程&#10;      &lt;/Text&gt;&#10;    &lt;/Box&gt;&#10;  &lt;/Box&gt;&#10;&#10;  {/* ---- 右下页码 ---- */}&#10;  &lt;Box style={{ position: 'absolute', right: 40, bottom: 24, zIndex: 2, flexDirection: 'row', alignItems: 'center', gap: 8 }}&gt;&#10;    &lt;Text style={{ fontSize: 14, color: '#5A6B84', fontFamily: &quot;'Space Grotesk','Consolas',sans-serif&quot; }}&gt;01&lt;/Text&gt;&#10;    &lt;Box style={{ width: 16, height: 1, background: '#5A6B84' }} /&gt;&#10;    &lt;Text style={{ fontSize: 14, color: '#5A6B84', fontFamily: &quot;'Space Grotesk','Consolas',sans-serif&quot; }}&gt;0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B33"/>
              </a:gs>
              <a:gs pos="55000">
                <a:srgbClr val="132C52"/>
              </a:gs>
              <a:gs pos="100000">
                <a:srgbClr val="0B1B33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66750" y="1676400"/>
            <a:ext cx="3695700" cy="323850"/>
          </a:xfrm>
          <a:prstGeom prst="roundRect">
            <a:avLst>
              <a:gd name="adj" fmla="val 58824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22D3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838200" y="18002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028700" y="1752600"/>
            <a:ext cx="251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93A5BE"/>
                </a:solidFill>
                <a:latin typeface="Source Han Sans SC"/>
                <a:ea typeface="Source Han Sans SC"/>
              </a:rPr>
              <a:t>技术周报</a:t>
            </a:r>
            <a:r>
              <a:rPr lang="en-US" sz="1125" spc="150">
                <a:solidFill>
                  <a:srgbClr val="93A5BE"/>
                </a:solidFill>
                <a:latin typeface="Source Han Sans SC"/>
                <a:ea typeface="Source Han Sans SC"/>
              </a:rPr>
              <a:t> · 2026.09.20 — 09.23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66750" y="2247900"/>
            <a:ext cx="5238750" cy="885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E8EEF7"/>
                </a:solidFill>
                <a:latin typeface="Source Han Sans SC"/>
                <a:ea typeface="Source Han Sans SC"/>
              </a:rPr>
              <a:t>载荷方案设计器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66750" y="3514725"/>
            <a:ext cx="5334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333500" y="3381375"/>
            <a:ext cx="1657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225">
                <a:solidFill>
                  <a:srgbClr val="22D3EE"/>
                </a:solidFill>
                <a:latin typeface="Source Han Sans SC"/>
                <a:ea typeface="Source Han Sans SC"/>
              </a:rPr>
              <a:t>本周技术总结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66750" y="3933825"/>
            <a:ext cx="4572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93A5BE"/>
                </a:solidFill>
                <a:latin typeface="Source Han Sans SC"/>
                <a:ea typeface="Source Han Sans SC"/>
              </a:rPr>
              <a:t>纯</a:t>
            </a:r>
            <a:r>
              <a:rPr lang="en-US" sz="1275">
                <a:solidFill>
                  <a:srgbClr val="93A5BE"/>
                </a:solidFill>
                <a:latin typeface="Source Han Sans SC"/>
                <a:ea typeface="Source Han Sans SC"/>
              </a:rPr>
              <a:t> Python </a:t>
            </a:r>
            <a:r>
              <a:rPr lang="zh-CN" sz="1275">
                <a:solidFill>
                  <a:srgbClr val="93A5BE"/>
                </a:solidFill>
                <a:latin typeface="Source Han Sans SC"/>
                <a:ea typeface="Source Han Sans SC"/>
              </a:rPr>
              <a:t>零依赖完成</a:t>
            </a:r>
            <a:r>
              <a:rPr lang="en-US" sz="1275">
                <a:solidFill>
                  <a:srgbClr val="93A5BE"/>
                </a:solidFill>
                <a:latin typeface="Source Han Sans SC"/>
                <a:ea typeface="Source Han Sans SC"/>
              </a:rPr>
              <a:t> </a:t>
            </a:r>
            <a:r>
              <a:rPr lang="en-US" sz="1275" b="1">
                <a:solidFill>
                  <a:srgbClr val="E8EEF7"/>
                </a:solidFill>
                <a:latin typeface="Source Han Sans SC"/>
                <a:ea typeface="Source Han Sans SC"/>
              </a:rPr>
              <a:t>v1 → v5.3 → v2</a:t>
            </a:r>
            <a:r>
              <a:rPr lang="en-US" sz="1275">
                <a:solidFill>
                  <a:srgbClr val="93A5BE"/>
                </a:solidFill>
                <a:latin typeface="Source Han Sans SC"/>
                <a:ea typeface="Source Han Sans SC"/>
              </a:rPr>
              <a:t> </a:t>
            </a:r>
            <a:r>
              <a:rPr lang="zh-CN" sz="1275">
                <a:solidFill>
                  <a:srgbClr val="93A5BE"/>
                </a:solidFill>
                <a:latin typeface="Source Han Sans SC"/>
                <a:ea typeface="Source Han Sans SC"/>
              </a:rPr>
              <a:t>三轮迭代：</a:t>
            </a:r>
            <a:r>
              <a:rPr lang="en-US" sz="1275">
                <a:solidFill>
                  <a:srgbClr val="93A5BE"/>
                </a:solidFill>
                <a:latin typeface="Source Han Sans SC"/>
                <a:ea typeface="Source Han Sans SC"/>
              </a:rPr>
              <a:t> </a:t>
            </a:r>
            <a:r>
              <a:rPr lang="zh-CN" sz="1275">
                <a:solidFill>
                  <a:srgbClr val="93A5BE"/>
                </a:solidFill>
                <a:latin typeface="Source Han Sans SC"/>
                <a:ea typeface="Source Han Sans SC"/>
              </a:rPr>
              <a:t>五引擎物理内核</a:t>
            </a:r>
            <a:r>
              <a:rPr lang="en-US" sz="1275">
                <a:solidFill>
                  <a:srgbClr val="93A5BE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93A5BE"/>
                </a:solidFill>
                <a:latin typeface="Source Han Sans SC"/>
                <a:ea typeface="Source Han Sans SC"/>
              </a:rPr>
              <a:t>闭环评级与</a:t>
            </a:r>
            <a:r>
              <a:rPr lang="en-US" sz="1275">
                <a:solidFill>
                  <a:srgbClr val="93A5BE"/>
                </a:solidFill>
                <a:latin typeface="Source Han Sans SC"/>
                <a:ea typeface="Source Han Sans SC"/>
              </a:rPr>
              <a:t> D </a:t>
            </a:r>
            <a:r>
              <a:rPr lang="zh-CN" sz="1275">
                <a:solidFill>
                  <a:srgbClr val="93A5BE"/>
                </a:solidFill>
                <a:latin typeface="Source Han Sans SC"/>
                <a:ea typeface="Source Han Sans SC"/>
              </a:rPr>
              <a:t>级救援</a:t>
            </a:r>
            <a:r>
              <a:rPr lang="en-US" sz="1275">
                <a:solidFill>
                  <a:srgbClr val="93A5BE"/>
                </a:solidFill>
                <a:latin typeface="Source Han Sans SC"/>
                <a:ea typeface="Source Han Sans SC"/>
              </a:rPr>
              <a:t> ·</a:t>
            </a:r>
            <a:r>
              <a:rPr lang="en-US" sz="1275" b="1">
                <a:solidFill>
                  <a:srgbClr val="F59E0B"/>
                </a:solidFill>
                <a:latin typeface="Source Han Sans SC"/>
                <a:ea typeface="Source Han Sans SC"/>
              </a:rPr>
              <a:t> 245+ </a:t>
            </a:r>
            <a:r>
              <a:rPr lang="zh-CN" sz="1275" b="1">
                <a:solidFill>
                  <a:srgbClr val="F59E0B"/>
                </a:solidFill>
                <a:latin typeface="Source Han Sans SC"/>
                <a:ea typeface="Source Han Sans SC"/>
              </a:rPr>
              <a:t>项自动化验证全绿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66750" y="5019675"/>
            <a:ext cx="28575" cy="171450"/>
          </a:xfrm>
          <a:prstGeom prst="roundRect">
            <a:avLst>
              <a:gd name="adj" fmla="val 6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90575" y="501967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5A6B84"/>
                </a:solidFill>
                <a:latin typeface="Source Han Sans SC"/>
                <a:ea typeface="Source Han Sans SC"/>
              </a:rPr>
              <a:t>文生载荷项目组</a:t>
            </a:r>
            <a:r>
              <a:rPr lang="en-US" sz="1125" spc="75">
                <a:solidFill>
                  <a:srgbClr val="5A6B84"/>
                </a:solidFill>
                <a:latin typeface="Source Han Sans SC"/>
                <a:ea typeface="Source Han Sans SC"/>
              </a:rPr>
              <a:t> · </a:t>
            </a:r>
            <a:r>
              <a:rPr lang="zh-CN" sz="1125" spc="75">
                <a:solidFill>
                  <a:srgbClr val="5A6B84"/>
                </a:solidFill>
                <a:latin typeface="Source Han Sans SC"/>
                <a:ea typeface="Source Han Sans SC"/>
              </a:rPr>
              <a:t>航天系统工程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1201400" y="64674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B84"/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11430000" y="6543675"/>
            <a:ext cx="152400" cy="9525"/>
          </a:xfrm>
          <a:prstGeom prst="rect">
            <a:avLst/>
          </a:prstGeom>
          <a:solidFill>
            <a:srgbClr val="5A6B84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1658600" y="64674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B84"/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6" name="" descr="&lt;Slide style={{&#10;  width: 1280, height: 720, padding: 0,&#10;  background: 'linear-gradient(135deg, #0B1B33 0%, #132C52 55%, #0B1B33 100%)',&#10;  flexDirection: 'column', overflow: 'hidden', position: 'relative',&#10;}}&gt;&#10;  {/* ============ A 标题块 0-120 ============ */}&#10;  &lt;Box style={{ height: 120, padding: '32px 70px 0 70px', flexDirection: 'row', alignItems: 'center', justifyContent: 'space-between' }}&gt;&#10;    &lt;Box style={{ flexDirection: 'row', alignItems: 'center', gap: 16 }}&gt;&#10;      &lt;Box style={{ width: 5, height: 40, borderRadius: 3, background: 'linear-gradient(180deg, #3B82F6, #22D3EE)' }} /&gt;&#10;      &lt;Box&gt;&#10;        &lt;Text style={{ fontSize: 34, fontWeight: 'bold', color: '#E8EEF7', letterSpacing: 1, fontFamily: &quot;'Source Han Sans SC','Microsoft YaHei',sans-serif&quot; }}&gt;&#10;          五引擎物理内核 + 双通道架构&#10;        &lt;/Text&gt;&#10;        &lt;Text style={{ fontSize: 14, color: '#5A6B84', marginTop: 4, letterSpacing: 2, fontFamily: &quot;'Space Grotesk','Consolas',sans-serif&quot; }}&gt;&#10;          FIVE PHYSICS ENGINES · PURE PYTHON ZERO-DEPENDENCY&#10;        &lt;/Text&gt;&#10;      &lt;/Box&gt;&#10;    &lt;/Box&gt;&#10;    &lt;Box style={{ padding: '6px 16px', borderRadius: 16, background: 'rgba(245,158,11,0.12)', border: '1px solid rgba(245,158,11,0.4)' }}&gt;&#10;      &lt;Text style={{ fontSize: 14, color: '#F59E0B', fontWeight: 600, fontFamily: &quot;'Source Han Sans SC','Microsoft YaHei',sans-serif&quot; }}&gt;0 第三方依赖&lt;/Text&gt;&#10;    &lt;/Box&gt;&#10;  &lt;/Box&gt;&#10;&#10;  {/* ============ B 内容区 120-660：非对称双栏 38:62 ============ */}&#10;  &lt;Box style={{ flex: 1, flexDirection: 'row', gap: 26, padding: '0 70px', minHeight: 0 }}&gt;&#10;&#10;    {/* ---- 左栏 38%：五引擎清单 ---- */}&#10;    &lt;Box style={{ width: 400, flexDirection: 'column', gap: 10, justifyContent: 'center' }}&gt;&#10;      {[&#10;        { n: '01', t: '方向图引擎', d: '相控阵 cos^1.5×阵因子 / 反射面 Hankel 口径积分，栅瓣双路核查，导出 GRASP .grd', c: '#3B82F6' },&#10;        { n: '02', t: '覆盖引擎', d: 'SATSOFT 等效：逐格地面 EIRP + marching squares 等值线 + 波束角域环地面投影', c: '#22D3EE' },&#10;        { n: '03', t: '轨道引擎', d: 'STK 等效：Kepler+J2+GMST，定点标定、可见窗、Walker 星座、星蚀与位保 ΔV', c: '#3B82F6' },&#10;        { n: '04', t: '分析引擎', d: '蒙特卡洛灵敏度 / 邻星 C-I（ITU-R S.465-6）/ 可靠性三 R 与冗余二分反解', c: '#22D3EE' },&#10;        { n: '05', t: '传播引擎', d: 'ITU-R P.618 雨衰空间分布与雨致交叉极化鉴别率（XPD）', c: '#3B82F6' },&#10;      ].map((e, i) =&gt; (&#10;        &lt;Box key={i} style={{&#10;          flexDirection: 'row', gap: 12, alignItems: 'flex-start',&#10;          padding: '11px 14px', borderRadius: 10,&#10;          background: 'rgba(59,130,246,0.07)', border: '1px solid rgba(147,165,190,0.18)',&#10;        }}&gt;&#10;          &lt;Text style={{ fontSize: 19, fontWeight: 'bold', color: e.c, fontFamily: &quot;'Space Grotesk','Consolas',sans-serif&quot;, width: 28, lineHeight: 1.3 }}&gt;{e.n}&lt;/Text&gt;&#10;          &lt;Box style={{ flex: 1 }}&gt;&#10;            &lt;Text style={{ fontSize: 17, fontWeight: 'bold', color: '#E8EEF7', fontFamily: &quot;'Source Han Sans SC','Microsoft YaHei',sans-serif&quot; }}&gt;{e.t}&lt;/Text&gt;&#10;            &lt;Text style={{ fontSize: 12.5, color: '#93A5BE', lineHeight: 1.45, marginTop: 2, fontFamily: &quot;'Source Han Sans SC','Microsoft YaHei',sans-serif&quot; }}&gt;{e.d}&lt;/Text&gt;&#10;          &lt;/Box&gt;&#10;        &lt;/Box&gt;&#10;      ))}&#10;    &lt;/Box&gt;&#10;&#10;    {/* ---- 右栏 62%：架构流向 SVG ---- */}&#10;    &lt;Box style={{ flex: 1, flexDirection: 'column', justifyContent: 'center', minHeight: 0 }}&gt;&#10;      &lt;Box style={{&#10;        borderRadius: 14, padding: 14,&#10;        background: 'rgba(11,27,51,0.6)', border: '1px solid rgba(59,130,246,0.25)',&#10;        boxShadow: '0 4px 20px rgba(0,0,0,0.25)',&#10;      }}&gt;&#10;        &lt;svg width={700} height={480} viewBox='0 0 700 480'&gt;&#10;          &lt;defs&gt;&#10;            &lt;marker id='ar2' markerWidth='8' markerHeight='8' refX='7' refY='4' orient='auto'&gt;&#10;              &lt;path d='M0,0 L8,4 L0,8 Z' fill='#22D3EE' /&gt;&#10;            &lt;/marker&gt;&#10;            &lt;marker id='ar2o' markerWidth='8' markerHeight='8' refX='7' refY='4' orient='auto'&gt;&#10;              &lt;path d='M0,0 L8,4 L0,8 Z' fill='#F59E0B' /&gt;&#10;            &lt;/marker&gt;&#10;          &lt;/defs&gt;&#10;&#10;          {/* 顶层：一句话需求 */}&#10;          &lt;rect x='200' y='10' width='300' height='44' rx='22' fill='rgba(245,158,11,0.14)' stroke='#F59E0B' strokeWidth='1.2' /&gt;&#10;          &lt;text x='350' y='38' textAnchor='middle' fontSize='16' fontWeight='bold' fill='#F59E0B' fontFamily='Source Han Sans SC,Microsoft YaHei,sans-serif'&gt;一句自然语言需求&lt;/text&gt;&#10;          &lt;line x1='350' y1='54' x2='350' y2='76' stroke='#22D3EE' strokeWidth='1.4' markerEnd='url(#ar2)' /&gt;&#10;&#10;          {/* 双通道层 */}&#10;          &lt;rect x='70' y='80' width='560' height='58' rx='10' fill='rgba(59,130,246,0.1)' stroke='#3B82F6' strokeWidth='1.2' /&gt;&#10;          &lt;text x='350' y='100' textAnchor='middle' fontSize='13' fill='#93A5BE' fontFamily='Source Han Sans SC,Microsoft YaHei,sans-serif'&gt;前后端双通道（JS 桥同名路由 · fetch 优先 / pywebview 回退）&lt;/text&gt;&#10;          &lt;rect x='96' y='108' width='230' height='22' rx='11' fill='rgba(34,211,238,0.12)' stroke='#22D3EE' strokeWidth='0.8' /&gt;&#10;          &lt;text x='211' y='123' textAnchor='middle' fontSize='12' fill='#22D3EE' fontFamily='Space Grotesk,Consolas,sans-serif'&gt;pywebview + WebView2 桌面壳&lt;/text&gt;&#10;          &lt;rect x='374' y='108' width='230' height='22' rx='11' fill='rgba(34,211,238,0.12)' stroke='#22D3EE' strokeWidth='0.8' /&gt;&#10;          &lt;text x='489' y='123' textAnchor='middle' fontSize='12' fill='#22D3EE' fontFamily='Space Grotesk,Consolas,sans-serif'&gt;HTTP /api/* 13 路由&lt;/text&gt;&#10;          &lt;line x1='350' y1='138' x2='350' y2='158' stroke='#22D3EE' strokeWidth='1.4' markerEnd='url(#ar2)' /&gt;&#10;&#10;          {/* 设计引擎主链 */}&#10;          &lt;rect x='70' y='162' width='560' height='52' rx='10' fill='rgba(59,130,246,0.16)' stroke='#3B82F6' strokeWidth='1.4' /&gt;&#10;          &lt;text x='350' y='184' textAnchor='middle' fontSize='14' fontWeight='bold' fill='#E8EEF7' fontFamily='Source Han Sans SC,Microsoft YaHei,sans-serif'&gt;design_engine 主链：意图→澄清→检索→选型→预算→评价&lt;/text&gt;&#10;          &lt;text x='350' y='203' textAnchor='middle' fontSize='12' fill='#93A5BE' fontFamily='Source Han Sans SC,Microsoft YaHei,sans-serif'&gt;E1-E10 十项准则 → A/B/C/D 评级 · suggest_closed_loop ≤3 轮 · D 级三级救援阶梯&lt;/text&gt;&#10;          &lt;line x1='350' y1='214' x2='350' y2='234' stroke='#22D3EE' strokeWidth='1.4' markerEnd='url(#ar2)' /&gt;&#10;&#10;          {/* 五引擎矩阵 */}&#10;          &lt;rect x='70' y='238' width='560' height='106' rx='10' fill='rgba(11,27,51,0.5)' stroke='rgba(147,165,190,0.3)' strokeWidth='1' /&gt;&#10;          &lt;text x='350' y='258' textAnchor='middle' fontSize='12' fill='#5A6B84' letterSpacing='2' fontFamily='Source Han Sans SC,Microsoft YaHei,sans-serif'&gt;物理引擎矩阵（被主链按需调用）&lt;/text&gt;&#10;          {[&#10;            { x: 84, t: '方向图', s: 'pattern' },&#10;            { x: 196, t: '覆盖', s: 'coverage' },&#10;            { x: 308, t: '轨道', s: 'orbit' },&#10;            { x: 420, t: '分析', s: 'analysis' },&#10;            { x: 532, t: '传播', s: 'propagation' },&#10;          ].map((b, i) =&gt; (&#10;            &lt;g key={i}&gt;&#10;              &lt;rect x={b.x} y={270} width={98} height={58} rx={8} fill='rgba(59,130,246,0.12)' stroke={i % 2 ? '#22D3EE' : '#3B82F6'} strokeWidth='1' /&gt;&#10;              &lt;text x={b.x + 49} y={296} textAnchor='middle' fontSize='15' fontWeight='bold' fill='#E8EEF7' fontFamily='Source Han Sans SC,Microsoft YaHei,sans-serif'&gt;{b.t}&lt;/text&gt;&#10;              &lt;text x={b.x + 49} y={315} textAnchor='middle' fontSize='10' fill='#5A6B84' fontFamily='Space Grotesk,Consolas,sans-serif'&gt;{b.s}&lt;/text&gt;&#10;            &lt;/g&gt;&#10;          ))}&#10;          &lt;line x1='350' y1='344' x2='350' y2='364' stroke='#22D3EE' strokeWidth='1.4' markerEnd='url(#ar2)' /&gt;&#10;&#10;          {/* 输出层 */}&#10;          &lt;rect x='70' y='368' width='270' height='56' rx='10' fill='rgba(34,211,238,0.1)' stroke='#22D3EE' strokeWidth='1.2' /&gt;&#10;          &lt;text x='205' y='392' textAnchor='middle' fontSize='14' fontWeight='bold' fill='#22D3EE' fontFamily='Source Han Sans SC,Microsoft YaHei,sans-serif'&gt;13 页签交互前端&lt;/text&gt;&#10;          &lt;text x='205' y='412' textAnchor='middle' fontSize='11.5' fill='#93A5BE' fontFamily='Source Han Sans SC,Microsoft YaHei,sans-serif'&gt;需求→总览→框图→方向图→…→稳健性&lt;/text&gt;&#10;&#10;          &lt;rect x='360' y='368' width='270' height='56' rx='10' fill='rgba(245,158,11,0.1)' stroke='#F59E0B' strokeWidth='1.2' /&gt;&#10;          &lt;text x='495' y='392' textAnchor='middle' fontSize='14' fontWeight='bold' fill='#F59E0B' fontFamily='Source Han Sans SC,Microsoft YaHei,sans-serif'&gt;Word 论证报告 14 章&lt;/text&gt;&#10;          &lt;text x='495' y='412' textAnchor='middle' fontSize='11.5' fill='#93A5BE' fontFamily='Source Han Sans SC,Microsoft YaHei,sans-serif'&gt;SVG→Edge 无头光栅化 18 张 PNG 内嵌&lt;/text&gt;&#10;&#10;          {/* 底部判断句 */}&#10;          &lt;rect x='70' y='440' width='560' height='32' rx='8' fill='rgba(59,130,246,0.06)' /&gt;&#10;          &lt;text x='350' y='461' textAnchor='middle' fontSize='13' fill='#93A5BE' fontFamily='Source Han Sans SC,Microsoft YaHei,sans-serif'&gt;&#10;            &lt;tspan fill='#E8EEF7' fontWeight='bold'&gt;判断：&lt;/tspan&gt;零依赖 = 任意 Windows 离线单 exe 交付，无环境地狱，工程可移植性是底线约束&#10;          &lt;/text&gt;&#10;        &lt;/svg&gt;&#10;      &lt;/Box&gt;&#10;    &lt;/Box&gt;&#10;  &lt;/Box&gt;&#10;&#10;  {/* ============ C 页脚条 660-720 ============ */}&#10;  &lt;Box style={{ height: 60, padding: '0 70px', flexDirection: 'row', alignItems: 'center', justifyContent: 'space-between' }}&gt;&#10;    &lt;Box style={{ flexDirection: 'row', alignItems: 'center', gap: 10 }}&gt;&#10;      &lt;svg width={22} height={22} viewBox='0 0 24 24'&gt;&#10;        &lt;circle cx='12' cy='12' r='5' fill='none' stroke='#3B82F6' strokeWidth='1.4' /&gt;&#10;        &lt;ellipse cx='12' cy='12' rx='10.5' ry='4' fill='none' stroke='#22D3EE' strokeWidth='0.9' opacity='0.7' transform='rotate(-20 12 12)' /&gt;&#10;        &lt;circle cx='21' cy='8.6' r='1.6' fill='#F59E0B' /&gt;&#10;      &lt;/svg&gt;&#10;      &lt;Text style={{ fontSize: 14, color: '#5A6B84', fontFamily: &quot;'Source Han Sans SC','Microsoft YaHei',sans-serif&quot; }}&gt;文生载荷 · 载荷方案设计器&lt;/Text&gt;&#10;    &lt;/Box&gt;&#10;    &lt;Text style={{ fontSize: 14, color: '#5A6B84', fontFamily: &quot;'Space Grotesk','Consolas',sans-serif&quot; }}&gt;02 / 0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B33"/>
              </a:gs>
              <a:gs pos="55000">
                <a:srgbClr val="132C52"/>
              </a:gs>
              <a:gs pos="100000">
                <a:srgbClr val="0B1B33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666750" y="533400"/>
            <a:ext cx="47625" cy="381000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66775" y="428625"/>
            <a:ext cx="4619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75">
                <a:solidFill>
                  <a:srgbClr val="E8EEF7"/>
                </a:solidFill>
                <a:latin typeface="Source Han Sans SC"/>
                <a:ea typeface="Source Han Sans SC"/>
              </a:rPr>
              <a:t>五引擎物理内核</a:t>
            </a:r>
            <a:r>
              <a:rPr lang="en-US" sz="2550" b="1" spc="75">
                <a:solidFill>
                  <a:srgbClr val="E8EEF7"/>
                </a:solidFill>
                <a:latin typeface="Source Han Sans SC"/>
                <a:ea typeface="Source Han Sans SC"/>
              </a:rPr>
              <a:t> + </a:t>
            </a:r>
            <a:r>
              <a:rPr lang="zh-CN" sz="2550" b="1" spc="75">
                <a:solidFill>
                  <a:srgbClr val="E8EEF7"/>
                </a:solidFill>
                <a:latin typeface="Source Han Sans SC"/>
                <a:ea typeface="Source Han Sans SC"/>
              </a:rPr>
              <a:t>双通道架构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66775" y="857250"/>
            <a:ext cx="461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5A6B84"/>
                </a:solidFill>
                <a:latin typeface="Space Grotesk"/>
                <a:ea typeface="Space Grotesk"/>
              </a:rPr>
              <a:t>FIVE PHYSICS ENGINES · PURE PYTHON ZERO-DEPENDENCY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0429875" y="590550"/>
            <a:ext cx="1095375" cy="276225"/>
          </a:xfrm>
          <a:prstGeom prst="roundRect">
            <a:avLst>
              <a:gd name="adj" fmla="val 55172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582275" y="647700"/>
            <a:ext cx="790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9E0B"/>
                </a:solidFill>
                <a:latin typeface="Source Han Sans SC"/>
                <a:ea typeface="Source Han Sans SC"/>
              </a:rPr>
              <a:t>0 </a:t>
            </a:r>
            <a:r>
              <a:rPr lang="zh-CN" sz="1050" b="1">
                <a:solidFill>
                  <a:srgbClr val="F59E0B"/>
                </a:solidFill>
                <a:latin typeface="Source Han Sans SC"/>
                <a:ea typeface="Source Han Sans SC"/>
              </a:rPr>
              <a:t>第三方依赖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66750" y="1514475"/>
            <a:ext cx="3810000" cy="847725"/>
          </a:xfrm>
          <a:prstGeom prst="roundRect">
            <a:avLst>
              <a:gd name="adj" fmla="val 11236"/>
            </a:avLst>
          </a:prstGeom>
          <a:solidFill>
            <a:srgbClr val="3B82F6">
              <a:alpha val="7000"/>
            </a:srgbClr>
          </a:solidFill>
          <a:ln w="12700">
            <a:solidFill>
              <a:srgbClr val="93A5B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00100" y="1619250"/>
            <a:ext cx="2667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425" b="1">
                <a:solidFill>
                  <a:srgbClr val="3B82F6"/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181100" y="1619250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7"/>
                </a:solidFill>
                <a:latin typeface="Source Han Sans SC"/>
                <a:ea typeface="Source Han Sans SC"/>
              </a:rPr>
              <a:t>方向图引擎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181100" y="1838325"/>
            <a:ext cx="31623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相控阵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cos^1.5×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阵因子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/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反射面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Hankel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口径积分，栅瓣双路核查，导出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GRASP .grd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66750" y="2457450"/>
            <a:ext cx="3810000" cy="847725"/>
          </a:xfrm>
          <a:prstGeom prst="roundRect">
            <a:avLst>
              <a:gd name="adj" fmla="val 11236"/>
            </a:avLst>
          </a:prstGeom>
          <a:solidFill>
            <a:srgbClr val="3B82F6">
              <a:alpha val="7000"/>
            </a:srgbClr>
          </a:solidFill>
          <a:ln w="12700">
            <a:solidFill>
              <a:srgbClr val="93A5B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00100" y="2562225"/>
            <a:ext cx="2667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425" b="1">
                <a:solidFill>
                  <a:srgbClr val="22D3EE"/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181100" y="2562225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7"/>
                </a:solidFill>
                <a:latin typeface="Source Han Sans SC"/>
                <a:ea typeface="Source Han Sans SC"/>
              </a:rPr>
              <a:t>覆盖引擎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181100" y="2781300"/>
            <a:ext cx="31623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SATSOFT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等效：逐格地面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EIRP + marching squares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等值线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+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波束角域环地面投影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66750" y="3400425"/>
            <a:ext cx="3810000" cy="847725"/>
          </a:xfrm>
          <a:prstGeom prst="roundRect">
            <a:avLst>
              <a:gd name="adj" fmla="val 11236"/>
            </a:avLst>
          </a:prstGeom>
          <a:solidFill>
            <a:srgbClr val="3B82F6">
              <a:alpha val="7000"/>
            </a:srgbClr>
          </a:solidFill>
          <a:ln w="12700">
            <a:solidFill>
              <a:srgbClr val="93A5B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00100" y="3505200"/>
            <a:ext cx="2667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425" b="1">
                <a:solidFill>
                  <a:srgbClr val="3B82F6"/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81100" y="3505200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7"/>
                </a:solidFill>
                <a:latin typeface="Source Han Sans SC"/>
                <a:ea typeface="Source Han Sans SC"/>
              </a:rPr>
              <a:t>轨道引擎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81100" y="3724275"/>
            <a:ext cx="31623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STK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等效：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Kepler+J2+GMST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，定点标定、可见窗、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Walker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星座、星蚀与位保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ΔV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66750" y="4343400"/>
            <a:ext cx="3810000" cy="847725"/>
          </a:xfrm>
          <a:prstGeom prst="roundRect">
            <a:avLst>
              <a:gd name="adj" fmla="val 11236"/>
            </a:avLst>
          </a:prstGeom>
          <a:solidFill>
            <a:srgbClr val="3B82F6">
              <a:alpha val="7000"/>
            </a:srgbClr>
          </a:solidFill>
          <a:ln w="12700">
            <a:solidFill>
              <a:srgbClr val="93A5B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00100" y="4448175"/>
            <a:ext cx="2667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425" b="1">
                <a:solidFill>
                  <a:srgbClr val="22D3EE"/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181100" y="4448175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7"/>
                </a:solidFill>
                <a:latin typeface="Source Han Sans SC"/>
                <a:ea typeface="Source Han Sans SC"/>
              </a:rPr>
              <a:t>分析引擎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81100" y="4667250"/>
            <a:ext cx="31623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蒙特卡洛灵敏度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/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邻星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C-I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（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ITU-R S.465-6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）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/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可靠性三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R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与冗余二分反解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66750" y="5286375"/>
            <a:ext cx="3810000" cy="638175"/>
          </a:xfrm>
          <a:prstGeom prst="roundRect">
            <a:avLst>
              <a:gd name="adj" fmla="val 14925"/>
            </a:avLst>
          </a:prstGeom>
          <a:solidFill>
            <a:srgbClr val="3B82F6">
              <a:alpha val="7000"/>
            </a:srgbClr>
          </a:solidFill>
          <a:ln w="12700">
            <a:solidFill>
              <a:srgbClr val="93A5B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00100" y="5391150"/>
            <a:ext cx="2667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425" b="1">
                <a:solidFill>
                  <a:srgbClr val="3B82F6"/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81100" y="5391150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7"/>
                </a:solidFill>
                <a:latin typeface="Source Han Sans SC"/>
                <a:ea typeface="Source Han Sans SC"/>
              </a:rPr>
              <a:t>传播引擎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81100" y="56102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ITU-R P.618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雨衰空间分布与雨致交叉极化鉴别率（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XPD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724400" y="1295400"/>
            <a:ext cx="6800850" cy="4838700"/>
          </a:xfrm>
          <a:prstGeom prst="roundRect">
            <a:avLst>
              <a:gd name="adj" fmla="val 2756"/>
            </a:avLst>
          </a:prstGeom>
          <a:solidFill>
            <a:srgbClr val="0B1B33">
              <a:alpha val="60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  <a:effectLst>
            <a:outerShdw blurRad="1905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57750" y="1428750"/>
            <a:ext cx="6667500" cy="4572000"/>
          </a:xfrm>
          <a:prstGeom prst="rect">
            <a:avLst/>
          </a:prstGeom>
          <a:ln/>
        </p:spPr>
      </p:pic>
      <p:pic>
        <p:nvPicPr>
          <p:cNvPr id="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66750" y="6467475"/>
            <a:ext cx="209550" cy="209550"/>
          </a:xfrm>
          <a:prstGeom prst="rect">
            <a:avLst/>
          </a:prstGeom>
          <a:ln/>
        </p:spPr>
      </p:pic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971550" y="649605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4"/>
                </a:solidFill>
                <a:latin typeface="Source Han Sans SC"/>
                <a:ea typeface="Source Han Sans SC"/>
              </a:rPr>
              <a:t>文生载荷</a:t>
            </a:r>
            <a:r>
              <a:rPr lang="en-US" sz="1050">
                <a:solidFill>
                  <a:srgbClr val="5A6B84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5A6B84"/>
                </a:solidFill>
                <a:latin typeface="Source Han Sans SC"/>
                <a:ea typeface="Source Han Sans SC"/>
              </a:rPr>
              <a:t>载荷方案设计器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1010900" y="64960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B84"/>
                </a:solidFill>
                <a:latin typeface="Space Grotesk"/>
                <a:ea typeface="Space Grotesk"/>
              </a:rPr>
              <a:t>02 / 05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8" name="" descr="&lt;Slide style={{&#10;  width: 1280, height: 720, padding: 0,&#10;  background: 'linear-gradient(135deg, #0B1B33 0%, #132C52 55%, #0B1B33 100%)',&#10;  flexDirection: 'row', overflow: 'hidden', position: 'relative',&#10;}}&gt;&#10;  {/* ---- 左 30% 竖排标题色块 ---- */}&#10;  &lt;Box style={{&#10;    width: 340, height: 720, flexDirection: 'column', justifyContent: 'center', gap: 22,&#10;    padding: '0 36px',&#10;    background: 'linear-gradient(160deg, rgba(59,130,246,0.22) 0%, rgba(11,27,51,0.1) 100%)',&#10;    borderRight: '1px solid rgba(59,130,246,0.35)',&#10;  }}&gt;&#10;    &lt;Text style={{ fontSize: 15, color: '#22D3EE', letterSpacing: 3, fontWeight: 600, fontFamily: &quot;'Space Grotesk','Consolas',sans-serif&quot; }}&gt;&#10;      V2 UPGRADE · 6 ITEMS&#10;    &lt;/Text&gt;&#10;    &lt;Box style={{ width: 52, height: 4, borderRadius: 2, background: 'linear-gradient(90deg, #3B82F6, #22D3EE)' }} /&gt;&#10;    &lt;Text style={{ fontSize: 42, fontWeight: 'bold', color: '#E8EEF7', lineHeight: 1.25, letterSpacing: 2, fontFamily: &quot;'Source Han Sans SC','Microsoft YaHei',sans-serif&quot; }}&gt;&#10;      v2 整改&lt;br /&gt;六项闭环增强&#10;    &lt;/Text&gt;&#10;    &lt;Text style={{ fontSize: 15, color: '#93A5BE', lineHeight: 1.7, fontFamily: &quot;'Source Han Sans SC','Microsoft YaHei',sans-serif&quot; }}&gt;&#10;      核心是把评级 D 从&quot;死胡同&quot;变成&lt;span style={{ color: '#F59E0B', fontWeight: 'bold' }}&gt;可执行的参数修复路径&lt;/span&gt;——建议、验证、一键带入全闭环。&#10;    &lt;/Text&gt;&#10;    &lt;Box style={{ flexDirection: 'row', gap: 10, marginTop: 6 }}&gt;&#10;      &lt;Box style={{ padding: '6px 14px', borderRadius: 14, background: 'rgba(34,211,238,0.12)', border: '1px solid rgba(34,211,238,0.35)' }}&gt;&#10;        &lt;Text style={{ fontSize: 13, color: '#22D3EE', fontWeight: 600, fontFamily: &quot;'Space Grotesk','Consolas',sans-serif&quot; }}&gt;63 项专项断言&lt;/Text&gt;&#10;      &lt;/Box&gt;&#10;      &lt;Box style={{ padding: '6px 14px', borderRadius: 14, background: 'rgba(245,158,11,0.12)', border: '1px solid rgba(245,158,11,0.4)' }}&gt;&#10;        &lt;Text style={{ fontSize: 13, color: '#F59E0B', fontWeight: 600, fontFamily: &quot;'Space Grotesk','Consolas',sans-serif&quot; }}&gt;全部通过&lt;/Text&gt;&#10;      &lt;/Box&gt;&#10;    &lt;/Box&gt;&#10;  &lt;/Box&gt;&#10;&#10;  {/* ---- 右 70% 六项条目 ---- */}&#10;  &lt;Box style={{ flex: 1, height: 720, flexDirection: 'column', justifyContent: 'center', gap: 13, padding: '0 56px 0 44px' }}&gt;&#10;    {[&#10;      { n: '83', icon: 'M12 2c1 3-1 5-3 7 3 0 5 2 5 5 1-2 3-3 5-3-2-2-3-5-2-8-2 1-4 0-5-1zm-4 13c-2 1-3 3-3 5 2 0 4-1 5-3l-2-2zm9 0l-2 2c1 2 3 3 5 3 0-2-1-4-3-5z', t: 'D 级三级救援阶梯 · 一键带入', d: '温和→中等→激进累积阶梯逐级复跑 design_all，按过硬准则数择优；只动设计变量（平台/天线/体制），不动用户需求字段', c: '#F59E0B' },&#10;      { n: '86', icon: 'M4 6h10M4 12h16M4 18h10M18 3l3 3-3 3M18 15l3 3-3 3', t: '信息流方向修正 + L1-L8 细化', d: 'stages 保序禁按层号排序（修复供能流 L8→L6 反转），hops 逐跳 fwd/bid 方向标记，正向实线、反向虚线回线，前后端同源', c: '#22D3EE' },&#10;      { n: '85', icon: 'M12 2L3 7v10l9 5 9-5V7l-9-5zm0 4.5L16.5 9 12 11.5 7.5 9 12 6.5zM5 9.8l6 3.4v5.9l-6-3.3V9.8zm14 0v6l-6 3.3v-5.9l6-3.4z', t: '组成框图细化：馈电网络节点', d: '相控阵增 BFN 波束成形网络、反射面增 FEED 多馈源馈电网络；T_sys 按天线族取值，上下行边完整接入', c: '#3B82F6' },&#10;      { n: '88', icon: 'M12 3a9 9 0 100 18 9 9 0 000-18zm0 4a5 5 0 100 10 5 5 0 000-10zm0 3.5a1.5 1.5 0 100 3 1.5 1.5 0 000-3z', t: '覆盖区波束角域环 ±θ 分色', d: '离轴角锥面按 GEO 解析式投影地面成环：−3dB 红 / −10dB 橙 / 首零陷紫，覆盖图直接读出正负多少度', c: '#22D3EE' },&#10;      { n: '89', icon: 'M4 5h16M4 9h11M4 13h16M4 17h11M4 21h16', t: 'Word 报告正文左对齐', d: '5 处 justify→left（正文/摘要/小注），中文排版不再出现字距拉伸的&quot;稀疏行&quot;', c: '#3B82F6' },&#10;      { n: '90', icon: 'M20 6L9 17l-5-5', t: 'v1 备份 + v2 冻结打包', d: 'PyInstaller 单文件 exe（netfx 运行时），冻结态自检 8/8 场景 grade=A、报告 18 图光栅化、GUI 依赖链完整', c: '#F59E0B' },&#10;    ].map((e, i) =&gt; (&#10;      &lt;Box key={i} style={{&#10;        flexDirection: 'row', alignItems: 'center', gap: 16,&#10;        padding: '10px 18px', borderRadius: 12,&#10;        background: 'rgba(59,130,246,0.06)', border: '1px solid rgba(147,165,190,0.16)',&#10;      }}&gt;&#10;        {/* 编号 */}&#10;        &lt;Text style={{ fontSize: 21, fontWeight: 'bold', color: e.c, width: 34, fontFamily: &quot;'Space Grotesk','Consolas',sans-serif&quot; }}&gt;#{e.n}&lt;/Text&gt;&#10;        {/* 图标 */}&#10;        &lt;Box style={{ width: 40, height: 40, borderRadius: 10, background: 'rgba(11,27,51,0.7)', border: '1px solid rgba(147,165,190,0.25)', alignItems: 'center', justifyContent: 'center' }}&gt;&#10;          &lt;svg width={22} height={22} viewBox='0 0 24 24'&gt;&#10;            &lt;path d={e.icon} fill='none' stroke={e.c} strokeWidth='1.6' strokeLinecap='round' strokeLinejoin='round' /&gt;&#10;          &lt;/svg&gt;&#10;        &lt;/Box&gt;&#10;        {/* 文字 */}&#10;        &lt;Box style={{ flex: 1 }}&gt;&#10;          &lt;Text style={{ fontSize: 16.5, fontWeight: 'bold', color: '#E8EEF7', fontFamily: &quot;'Source Han Sans SC','Microsoft YaHei',sans-serif&quot; }}&gt;{e.t}&lt;/Text&gt;&#10;          &lt;Text style={{ fontSize: 12.5, color: '#93A5BE', lineHeight: 1.4, marginTop: 2, fontFamily: &quot;'Source Han Sans SC','Microsoft YaHei',sans-serif&quot; }}&gt;{e.d}&lt;/Text&gt;&#10;        &lt;/Box&gt;&#10;      &lt;/Box&gt;&#10;    ))}&#10;  &lt;/Box&gt;&#10;&#10;  {/* ---- 页脚 ---- */}&#10;  &lt;Box style={{ position: 'absolute', left: 0, right: 0, bottom: 0, height: 44, padding: '0 40px 0 384px', flexDirection: 'row', alignItems: 'center', justifyContent: 'space-between', zIndex: 3 }}&gt;&#10;    &lt;Text style={{ fontSize: 13, color: '#5A6B84', fontFamily: &quot;'Source Han Sans SC','Microsoft YaHei',sans-serif&quot; }}&gt;文生载荷 · 载荷方案设计器&lt;/Text&gt;&#10;    &lt;Text style={{ fontSize: 13, color: '#5A6B84', fontFamily: &quot;'Space Grotesk','Consolas',sans-serif&quot; }}&gt;03 / 0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B33"/>
              </a:gs>
              <a:gs pos="55000">
                <a:srgbClr val="132C52"/>
              </a:gs>
              <a:gs pos="100000">
                <a:srgbClr val="0B1B33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0" y="0"/>
            <a:ext cx="3228975" cy="6858000"/>
          </a:xfrm>
          <a:prstGeom prst="rect">
            <a:avLst/>
          </a:prstGeom>
          <a:gradFill>
            <a:gsLst>
              <a:gs pos="0">
                <a:srgbClr val="3B82F6">
                  <a:alpha val="22000"/>
                </a:srgbClr>
              </a:gs>
              <a:gs pos="100000">
                <a:srgbClr val="0B1B33">
                  <a:alpha val="10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0" y="0"/>
            <a:ext cx="3238500" cy="6858000"/>
          </a:xfrm>
          <a:custGeom>
            <a:pathLst>
              <a:path w="340" h="720">
                <a:moveTo>
                  <a:pt x="339" y="0"/>
                </a:moveTo>
                <a:lnTo>
                  <a:pt x="340" y="0"/>
                </a:lnTo>
                <a:lnTo>
                  <a:pt x="340" y="720"/>
                </a:lnTo>
                <a:lnTo>
                  <a:pt x="339" y="720"/>
                </a:lnTo>
                <a:close/>
              </a:path>
            </a:pathLst>
          </a:custGeom>
          <a:solidFill>
            <a:srgbClr val="3B82F6">
              <a:alpha val="35000"/>
            </a:srgbClr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42900" y="1704975"/>
            <a:ext cx="2543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Space Grotesk"/>
                <a:ea typeface="Space Grotesk"/>
              </a:rPr>
              <a:t>V2 UPGRADE · 6 ITEMS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342900" y="2085975"/>
            <a:ext cx="4953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42900" y="2333625"/>
            <a:ext cx="2543175" cy="12001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3150" b="1" spc="150">
                <a:solidFill>
                  <a:srgbClr val="E8EEF7"/>
                </a:solidFill>
                <a:latin typeface="Source Han Sans SC"/>
                <a:ea typeface="Source Han Sans SC"/>
              </a:rPr>
              <a:t>v2 </a:t>
            </a:r>
            <a:r>
              <a:rPr lang="zh-CN" sz="3150" b="1" spc="150">
                <a:solidFill>
                  <a:srgbClr val="E8EEF7"/>
                </a:solidFill>
                <a:latin typeface="Source Han Sans SC"/>
                <a:ea typeface="Source Han Sans SC"/>
              </a:rPr>
              <a:t>整改</a:t>
            </a:r>
            <a:endParaRPr/>
          </a:p>
          <a:p>
            <a:pPr>
              <a:lnSpc>
                <a:spcPct val="125000"/>
              </a:lnSpc>
            </a:pPr>
            <a:r>
              <a:rPr lang="zh-CN" sz="3150" b="1" spc="150">
                <a:solidFill>
                  <a:srgbClr val="E8EEF7"/>
                </a:solidFill>
                <a:latin typeface="Source Han Sans SC"/>
                <a:ea typeface="Source Han Sans SC"/>
              </a:rPr>
              <a:t>六项闭环增强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42900" y="3743325"/>
            <a:ext cx="254317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3A5BE"/>
                </a:solidFill>
                <a:latin typeface="Source Han Sans SC"/>
                <a:ea typeface="Source Han Sans SC"/>
              </a:rPr>
              <a:t>核心是把评级</a:t>
            </a:r>
            <a:r>
              <a:rPr lang="en-US" sz="1125">
                <a:solidFill>
                  <a:srgbClr val="93A5BE"/>
                </a:solidFill>
                <a:latin typeface="Source Han Sans SC"/>
                <a:ea typeface="Source Han Sans SC"/>
              </a:rPr>
              <a:t> D </a:t>
            </a:r>
            <a:r>
              <a:rPr lang="zh-CN" sz="1125">
                <a:solidFill>
                  <a:srgbClr val="93A5BE"/>
                </a:solidFill>
                <a:latin typeface="Source Han Sans SC"/>
                <a:ea typeface="Source Han Sans SC"/>
              </a:rPr>
              <a:t>从</a:t>
            </a:r>
            <a:r>
              <a:rPr lang="en-US" sz="1125">
                <a:solidFill>
                  <a:srgbClr val="93A5BE"/>
                </a:solidFill>
                <a:latin typeface="Source Han Sans SC"/>
                <a:ea typeface="Source Han Sans SC"/>
              </a:rPr>
              <a:t>"</a:t>
            </a:r>
            <a:r>
              <a:rPr lang="zh-CN" sz="1125">
                <a:solidFill>
                  <a:srgbClr val="93A5BE"/>
                </a:solidFill>
                <a:latin typeface="Source Han Sans SC"/>
                <a:ea typeface="Source Han Sans SC"/>
              </a:rPr>
              <a:t>死胡同</a:t>
            </a:r>
            <a:r>
              <a:rPr lang="en-US" sz="1125">
                <a:solidFill>
                  <a:srgbClr val="93A5BE"/>
                </a:solidFill>
                <a:latin typeface="Source Han Sans SC"/>
                <a:ea typeface="Source Han Sans SC"/>
              </a:rPr>
              <a:t>"</a:t>
            </a:r>
            <a:r>
              <a:rPr lang="zh-CN" sz="1125">
                <a:solidFill>
                  <a:srgbClr val="93A5BE"/>
                </a:solidFill>
                <a:latin typeface="Source Han Sans SC"/>
                <a:ea typeface="Source Han Sans SC"/>
              </a:rPr>
              <a:t>变成</a:t>
            </a:r>
            <a:r>
              <a:rPr lang="zh-CN" sz="1125" b="1">
                <a:solidFill>
                  <a:srgbClr val="F59E0B"/>
                </a:solidFill>
                <a:latin typeface="Source Han Sans SC"/>
                <a:ea typeface="Source Han Sans SC"/>
              </a:rPr>
              <a:t>可执行的参数修复路径</a:t>
            </a:r>
            <a:r>
              <a:rPr lang="zh-CN" sz="1125">
                <a:solidFill>
                  <a:srgbClr val="93A5BE"/>
                </a:solidFill>
                <a:latin typeface="Source Han Sans SC"/>
                <a:ea typeface="Source Han Sans SC"/>
              </a:rPr>
              <a:t>——建议、验证、一键带入全闭环。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342900" y="4886325"/>
            <a:ext cx="1095375" cy="266700"/>
          </a:xfrm>
          <a:prstGeom prst="roundRect">
            <a:avLst>
              <a:gd name="adj" fmla="val 50000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76250" y="4943475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Space Grotesk"/>
                <a:ea typeface="Space Grotesk"/>
              </a:rPr>
              <a:t>63 </a:t>
            </a:r>
            <a:r>
              <a:rPr lang="zh-CN" sz="975" b="1">
                <a:solidFill>
                  <a:srgbClr val="22D3EE"/>
                </a:solidFill>
                <a:latin typeface="Space Grotesk"/>
                <a:ea typeface="Space Grotesk"/>
              </a:rPr>
              <a:t>项专项断言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1533525" y="4886325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666875" y="49434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59E0B"/>
                </a:solidFill>
                <a:latin typeface="Space Grotesk"/>
                <a:ea typeface="Space Grotesk"/>
              </a:rPr>
              <a:t>全部通过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3657600" y="1219200"/>
            <a:ext cx="8001000" cy="600075"/>
          </a:xfrm>
          <a:prstGeom prst="roundRect">
            <a:avLst>
              <a:gd name="adj" fmla="val 19048"/>
            </a:avLst>
          </a:prstGeom>
          <a:solidFill>
            <a:srgbClr val="3B82F6">
              <a:alpha val="6000"/>
            </a:srgbClr>
          </a:solidFill>
          <a:ln w="12700">
            <a:solidFill>
              <a:srgbClr val="93A5B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829050" y="1400175"/>
            <a:ext cx="323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59E0B"/>
                </a:solidFill>
                <a:latin typeface="Space Grotesk"/>
                <a:ea typeface="Space Grotesk"/>
              </a:rPr>
              <a:t>#</a:t>
            </a:r>
            <a:r>
              <a:rPr lang="en-US" sz="1575" b="1">
                <a:solidFill>
                  <a:srgbClr val="F59E0B"/>
                </a:solidFill>
                <a:latin typeface="Space Grotesk"/>
                <a:ea typeface="Space Grotesk"/>
              </a:rPr>
              <a:t>83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305300" y="13335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B1B33">
              <a:alpha val="70000"/>
            </a:srgbClr>
          </a:solidFill>
          <a:ln w="12700">
            <a:solidFill>
              <a:srgbClr val="93A5BE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91025" y="1419225"/>
            <a:ext cx="209550" cy="209550"/>
          </a:xfrm>
          <a:prstGeom prst="rect">
            <a:avLst/>
          </a:prstGeom>
          <a:ln/>
        </p:spPr>
      </p:pic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838700" y="1314450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E8EEF7"/>
                </a:solidFill>
                <a:latin typeface="Source Han Sans SC"/>
                <a:ea typeface="Source Han Sans SC"/>
              </a:rPr>
              <a:t>D </a:t>
            </a:r>
            <a:r>
              <a:rPr lang="zh-CN" sz="1238" b="1">
                <a:solidFill>
                  <a:srgbClr val="E8EEF7"/>
                </a:solidFill>
                <a:latin typeface="Source Han Sans SC"/>
                <a:ea typeface="Source Han Sans SC"/>
              </a:rPr>
              <a:t>级三级救援阶梯</a:t>
            </a:r>
            <a:r>
              <a:rPr lang="en-US" sz="1238" b="1">
                <a:solidFill>
                  <a:srgbClr val="E8EEF7"/>
                </a:solidFill>
                <a:latin typeface="Source Han Sans SC"/>
                <a:ea typeface="Source Han Sans SC"/>
              </a:rPr>
              <a:t> · </a:t>
            </a:r>
            <a:r>
              <a:rPr lang="zh-CN" sz="1238" b="1">
                <a:solidFill>
                  <a:srgbClr val="E8EEF7"/>
                </a:solidFill>
                <a:latin typeface="Source Han Sans SC"/>
                <a:ea typeface="Source Han Sans SC"/>
              </a:rPr>
              <a:t>一键带入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838700" y="1524000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温和→中等→激进累积阶梯逐级复跑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design_all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，按过硬准则数择优；只动设计变量（平台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/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天线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/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体制），不动用户需求字段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3657600" y="1943100"/>
            <a:ext cx="8001000" cy="800100"/>
          </a:xfrm>
          <a:prstGeom prst="roundRect">
            <a:avLst>
              <a:gd name="adj" fmla="val 14286"/>
            </a:avLst>
          </a:prstGeom>
          <a:solidFill>
            <a:srgbClr val="3B82F6">
              <a:alpha val="6000"/>
            </a:srgbClr>
          </a:solidFill>
          <a:ln w="12700">
            <a:solidFill>
              <a:srgbClr val="93A5B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829050" y="2219325"/>
            <a:ext cx="323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22D3EE"/>
                </a:solidFill>
                <a:latin typeface="Space Grotesk"/>
                <a:ea typeface="Space Grotesk"/>
              </a:rPr>
              <a:t>#</a:t>
            </a:r>
            <a:r>
              <a:rPr lang="en-US" sz="1575" b="1">
                <a:solidFill>
                  <a:srgbClr val="22D3EE"/>
                </a:solidFill>
                <a:latin typeface="Space Grotesk"/>
                <a:ea typeface="Space Grotesk"/>
              </a:rPr>
              <a:t>86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4305300" y="2152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B1B33">
              <a:alpha val="70000"/>
            </a:srgbClr>
          </a:solidFill>
          <a:ln w="12700">
            <a:solidFill>
              <a:srgbClr val="93A5BE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391025" y="2238375"/>
            <a:ext cx="209550" cy="209550"/>
          </a:xfrm>
          <a:prstGeom prst="rect">
            <a:avLst/>
          </a:prstGeom>
          <a:ln/>
        </p:spPr>
      </p:pic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838700" y="2038350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8EEF7"/>
                </a:solidFill>
                <a:latin typeface="Source Han Sans SC"/>
                <a:ea typeface="Source Han Sans SC"/>
              </a:rPr>
              <a:t>信息流方向修正</a:t>
            </a:r>
            <a:r>
              <a:rPr lang="en-US" sz="1238" b="1">
                <a:solidFill>
                  <a:srgbClr val="E8EEF7"/>
                </a:solidFill>
                <a:latin typeface="Source Han Sans SC"/>
                <a:ea typeface="Source Han Sans SC"/>
              </a:rPr>
              <a:t> + L1-L8 </a:t>
            </a:r>
            <a:r>
              <a:rPr lang="zh-CN" sz="1238" b="1">
                <a:solidFill>
                  <a:srgbClr val="E8EEF7"/>
                </a:solidFill>
                <a:latin typeface="Source Han Sans SC"/>
                <a:ea typeface="Source Han Sans SC"/>
              </a:rPr>
              <a:t>细化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838700" y="2247900"/>
            <a:ext cx="66484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stages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保序禁按层号排序（修复供能流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L8→L6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反转），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hops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逐跳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fwd/bid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方向标记，正向实线、反向虚线回线，前后端同源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3657600" y="2867025"/>
            <a:ext cx="8001000" cy="600075"/>
          </a:xfrm>
          <a:prstGeom prst="roundRect">
            <a:avLst>
              <a:gd name="adj" fmla="val 19048"/>
            </a:avLst>
          </a:prstGeom>
          <a:solidFill>
            <a:srgbClr val="3B82F6">
              <a:alpha val="6000"/>
            </a:srgbClr>
          </a:solidFill>
          <a:ln w="12700">
            <a:solidFill>
              <a:srgbClr val="93A5B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829050" y="3048000"/>
            <a:ext cx="323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3B82F6"/>
                </a:solidFill>
                <a:latin typeface="Space Grotesk"/>
                <a:ea typeface="Space Grotesk"/>
              </a:rPr>
              <a:t>#</a:t>
            </a:r>
            <a:r>
              <a:rPr lang="en-US" sz="1575" b="1">
                <a:solidFill>
                  <a:srgbClr val="3B82F6"/>
                </a:solidFill>
                <a:latin typeface="Space Grotesk"/>
                <a:ea typeface="Space Grotesk"/>
              </a:rPr>
              <a:t>85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4305300" y="29813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B1B33">
              <a:alpha val="70000"/>
            </a:srgbClr>
          </a:solidFill>
          <a:ln w="12700">
            <a:solidFill>
              <a:srgbClr val="93A5BE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391025" y="3067050"/>
            <a:ext cx="209550" cy="209550"/>
          </a:xfrm>
          <a:prstGeom prst="rect">
            <a:avLst/>
          </a:prstGeom>
          <a:ln/>
        </p:spPr>
      </p:pic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838700" y="2962275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8EEF7"/>
                </a:solidFill>
                <a:latin typeface="Source Han Sans SC"/>
                <a:ea typeface="Source Han Sans SC"/>
              </a:rPr>
              <a:t>组成框图细化：馈电网络节点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838700" y="3171825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相控阵增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BFN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波束成形网络、反射面增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FEED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多馈源馈电网络；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T_sys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按天线族取值，上下行边完整接入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3657600" y="3590925"/>
            <a:ext cx="8001000" cy="600075"/>
          </a:xfrm>
          <a:prstGeom prst="roundRect">
            <a:avLst>
              <a:gd name="adj" fmla="val 19048"/>
            </a:avLst>
          </a:prstGeom>
          <a:solidFill>
            <a:srgbClr val="3B82F6">
              <a:alpha val="6000"/>
            </a:srgbClr>
          </a:solidFill>
          <a:ln w="12700">
            <a:solidFill>
              <a:srgbClr val="93A5B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829050" y="3771900"/>
            <a:ext cx="323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22D3EE"/>
                </a:solidFill>
                <a:latin typeface="Space Grotesk"/>
                <a:ea typeface="Space Grotesk"/>
              </a:rPr>
              <a:t>#</a:t>
            </a:r>
            <a:r>
              <a:rPr lang="en-US" sz="1575" b="1">
                <a:solidFill>
                  <a:srgbClr val="22D3EE"/>
                </a:solidFill>
                <a:latin typeface="Space Grotesk"/>
                <a:ea typeface="Space Grotesk"/>
              </a:rPr>
              <a:t>88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4305300" y="37052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B1B33">
              <a:alpha val="70000"/>
            </a:srgbClr>
          </a:solidFill>
          <a:ln w="12700">
            <a:solidFill>
              <a:srgbClr val="93A5BE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391025" y="3790950"/>
            <a:ext cx="209550" cy="209550"/>
          </a:xfrm>
          <a:prstGeom prst="rect">
            <a:avLst/>
          </a:prstGeom>
          <a:ln/>
        </p:spPr>
      </p:pic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838700" y="3686175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8EEF7"/>
                </a:solidFill>
                <a:latin typeface="Source Han Sans SC"/>
                <a:ea typeface="Source Han Sans SC"/>
              </a:rPr>
              <a:t>覆盖区波束角域环</a:t>
            </a:r>
            <a:r>
              <a:rPr lang="en-US" sz="1238" b="1">
                <a:solidFill>
                  <a:srgbClr val="E8EEF7"/>
                </a:solidFill>
                <a:latin typeface="Source Han Sans SC"/>
                <a:ea typeface="Source Han Sans SC"/>
              </a:rPr>
              <a:t> ±θ </a:t>
            </a:r>
            <a:r>
              <a:rPr lang="zh-CN" sz="1238" b="1">
                <a:solidFill>
                  <a:srgbClr val="E8EEF7"/>
                </a:solidFill>
                <a:latin typeface="Source Han Sans SC"/>
                <a:ea typeface="Source Han Sans SC"/>
              </a:rPr>
              <a:t>分色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838700" y="3895725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离轴角锥面按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GEO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解析式投影地面成环：−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3dB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红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/ −10dB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橙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/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首零陷紫，覆盖图直接读出正负多少度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3657600" y="4314825"/>
            <a:ext cx="8001000" cy="600075"/>
          </a:xfrm>
          <a:prstGeom prst="roundRect">
            <a:avLst>
              <a:gd name="adj" fmla="val 19048"/>
            </a:avLst>
          </a:prstGeom>
          <a:solidFill>
            <a:srgbClr val="3B82F6">
              <a:alpha val="6000"/>
            </a:srgbClr>
          </a:solidFill>
          <a:ln w="12700">
            <a:solidFill>
              <a:srgbClr val="93A5B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829050" y="4495800"/>
            <a:ext cx="323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3B82F6"/>
                </a:solidFill>
                <a:latin typeface="Space Grotesk"/>
                <a:ea typeface="Space Grotesk"/>
              </a:rPr>
              <a:t>#</a:t>
            </a:r>
            <a:r>
              <a:rPr lang="en-US" sz="1575" b="1">
                <a:solidFill>
                  <a:srgbClr val="3B82F6"/>
                </a:solidFill>
                <a:latin typeface="Space Grotesk"/>
                <a:ea typeface="Space Grotesk"/>
              </a:rPr>
              <a:t>89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4305300" y="44291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B1B33">
              <a:alpha val="70000"/>
            </a:srgbClr>
          </a:solidFill>
          <a:ln w="12700">
            <a:solidFill>
              <a:srgbClr val="93A5BE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391025" y="4514850"/>
            <a:ext cx="209550" cy="209550"/>
          </a:xfrm>
          <a:prstGeom prst="rect">
            <a:avLst/>
          </a:prstGeom>
          <a:ln/>
        </p:spPr>
      </p:pic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838700" y="4410075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E8EEF7"/>
                </a:solidFill>
                <a:latin typeface="Source Han Sans SC"/>
                <a:ea typeface="Source Han Sans SC"/>
              </a:rPr>
              <a:t>Word </a:t>
            </a:r>
            <a:r>
              <a:rPr lang="zh-CN" sz="1238" b="1">
                <a:solidFill>
                  <a:srgbClr val="E8EEF7"/>
                </a:solidFill>
                <a:latin typeface="Source Han Sans SC"/>
                <a:ea typeface="Source Han Sans SC"/>
              </a:rPr>
              <a:t>报告正文左对齐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838700" y="4619625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5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处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justify→left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（正文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/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摘要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/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小注），中文排版不再出现字距拉伸的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"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稀疏行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"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657600" y="5038725"/>
            <a:ext cx="8001000" cy="600075"/>
          </a:xfrm>
          <a:prstGeom prst="roundRect">
            <a:avLst>
              <a:gd name="adj" fmla="val 19048"/>
            </a:avLst>
          </a:prstGeom>
          <a:solidFill>
            <a:srgbClr val="3B82F6">
              <a:alpha val="6000"/>
            </a:srgbClr>
          </a:solidFill>
          <a:ln w="12700">
            <a:solidFill>
              <a:srgbClr val="93A5B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29050" y="5219700"/>
            <a:ext cx="323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59E0B"/>
                </a:solidFill>
                <a:latin typeface="Space Grotesk"/>
                <a:ea typeface="Space Grotesk"/>
              </a:rPr>
              <a:t>#</a:t>
            </a:r>
            <a:r>
              <a:rPr lang="en-US" sz="1575" b="1">
                <a:solidFill>
                  <a:srgbClr val="F59E0B"/>
                </a:solidFill>
                <a:latin typeface="Space Grotesk"/>
                <a:ea typeface="Space Grotesk"/>
              </a:rPr>
              <a:t>90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4305300" y="51530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B1B33">
              <a:alpha val="70000"/>
            </a:srgbClr>
          </a:solidFill>
          <a:ln w="12700">
            <a:solidFill>
              <a:srgbClr val="93A5BE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391025" y="5238750"/>
            <a:ext cx="209550" cy="209550"/>
          </a:xfrm>
          <a:prstGeom prst="rect">
            <a:avLst/>
          </a:prstGeom>
          <a:ln/>
        </p:spPr>
      </p:pic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838700" y="5133975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E8EEF7"/>
                </a:solidFill>
                <a:latin typeface="Source Han Sans SC"/>
                <a:ea typeface="Source Han Sans SC"/>
              </a:rPr>
              <a:t>v1 </a:t>
            </a:r>
            <a:r>
              <a:rPr lang="zh-CN" sz="1238" b="1">
                <a:solidFill>
                  <a:srgbClr val="E8EEF7"/>
                </a:solidFill>
                <a:latin typeface="Source Han Sans SC"/>
                <a:ea typeface="Source Han Sans SC"/>
              </a:rPr>
              <a:t>备份</a:t>
            </a:r>
            <a:r>
              <a:rPr lang="en-US" sz="1238" b="1">
                <a:solidFill>
                  <a:srgbClr val="E8EEF7"/>
                </a:solidFill>
                <a:latin typeface="Source Han Sans SC"/>
                <a:ea typeface="Source Han Sans SC"/>
              </a:rPr>
              <a:t> + v2 </a:t>
            </a:r>
            <a:r>
              <a:rPr lang="zh-CN" sz="1238" b="1">
                <a:solidFill>
                  <a:srgbClr val="E8EEF7"/>
                </a:solidFill>
                <a:latin typeface="Source Han Sans SC"/>
                <a:ea typeface="Source Han Sans SC"/>
              </a:rPr>
              <a:t>冻结打包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838700" y="5343525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PyInstaller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单文件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exe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（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netfx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运行时），冻结态自检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8/8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场景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grade=A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、报告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18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图光栅化、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GUI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依赖链完整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657600" y="6572250"/>
            <a:ext cx="1466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A6B84"/>
                </a:solidFill>
                <a:latin typeface="Source Han Sans SC"/>
                <a:ea typeface="Source Han Sans SC"/>
              </a:rPr>
              <a:t>文生载荷</a:t>
            </a:r>
            <a:r>
              <a:rPr lang="en-US" sz="975">
                <a:solidFill>
                  <a:srgbClr val="5A6B84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5A6B84"/>
                </a:solidFill>
                <a:latin typeface="Source Han Sans SC"/>
                <a:ea typeface="Source Han Sans SC"/>
              </a:rPr>
              <a:t>载荷方案设计器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325225" y="657225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A6B84"/>
                </a:solidFill>
                <a:latin typeface="Space Grotesk"/>
                <a:ea typeface="Space Grotesk"/>
              </a:rPr>
              <a:t>03 / 05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8" name="" descr="&lt;Slide style={{&#10;  width: 1280, height: 720, padding: 0,&#10;  background: 'linear-gradient(135deg, #0B1B33 0%, #132C52 55%, #0B1B33 100%)',&#10;  flexDirection: 'column', overflow: 'hidden', position: 'relative',&#10;}}&gt;&#10;  {/* 背景光晕（hero 页氛围） */}&#10;  &lt;Box style={{ position: 'absolute', top: -120, right: -80, width: 560, height: 560, borderRadius: 280, background: 'radial-gradient(circle, rgba(245,158,11,0.14) 0%, transparent 65%)', zIndex: 0 }} /&gt;&#10;  &lt;Box style={{ position: 'absolute', bottom: -160, left: -120, width: 520, height: 520, borderRadius: 260, background: 'radial-gradient(circle, rgba(59,130,246,0.16) 0%, transparent 65%)', zIndex: 0 }} /&gt;&#10;&#10;  {/* ============ A 标题块 ============ */}&#10;  &lt;Box style={{ height: 118, padding: '32px 70px 0 70px', flexDirection: 'row', alignItems: 'center', justifyContent: 'space-between', zIndex: 1 }}&gt;&#10;    &lt;Box style={{ flexDirection: 'row', alignItems: 'center', gap: 16 }}&gt;&#10;      &lt;Box style={{ width: 5, height: 40, borderRadius: 3, background: 'linear-gradient(180deg, #F59E0B, #22D3EE)' }} /&gt;&#10;      &lt;Box&gt;&#10;        &lt;Text style={{ fontSize: 34, fontWeight: 'bold', color: '#E8EEF7', letterSpacing: 1, fontFamily: &quot;'Source Han Sans SC','Microsoft YaHei',sans-serif&quot; }}&gt;&#10;          全绿验证基线&#10;        &lt;/Text&gt;&#10;        &lt;Text style={{ fontSize: 14, color: '#5A6B84', marginTop: 4, letterSpacing: 2, fontFamily: &quot;'Space Grotesk','Consolas',sans-serif&quot; }}&gt;&#10;          AUTOMATED VERIFICATION · ALL GREEN&#10;        &lt;/Text&gt;&#10;      &lt;/Box&gt;&#10;    &lt;/Box&gt;&#10;    &lt;Box style={{ padding: '7px 18px', borderRadius: 17, background: 'rgba(34,211,238,0.12)', border: '1px solid rgba(34,211,238,0.45)' }}&gt;&#10;      &lt;Text style={{ fontSize: 14, color: '#22D3EE', fontWeight: 'bold', fontFamily: &quot;'Space Grotesk','Consolas',sans-serif&quot; }}&gt;ALL PASS&lt;/Text&gt;&#10;    &lt;/Box&gt;&#10;  &lt;/Box&gt;&#10;&#10;  {/* ============ B 巨型数字 + 洞察 ============ */}&#10;  &lt;Box style={{ flex: 1, flexDirection: 'row', alignItems: 'center', gap: 40, padding: '0 70px', zIndex: 1, minHeight: 0 }}&gt;&#10;&#10;    {/* 左：巨型锚点数字（≥96px） */}&#10;    &lt;Box style={{ width: 430, flexDirection: 'column', alignItems: 'flex-start', gap: 6 }}&gt;&#10;      &lt;Box style={{ flexDirection: 'row', alignItems: 'flex-end', gap: 6 }}&gt;&#10;        &lt;Text style={{&#10;          fontSize: 118, fontWeight: 'bold', color: '#F59E0B', lineHeight: 1.0,&#10;          fontFamily: &quot;'Space Grotesk','Consolas',sans-serif&quot;, letterSpacing: -2,&#10;          textShadow: '0 0 40px rgba(245,158,11,0.35)',&#10;        }}&gt;245&lt;/Text&gt;&#10;        &lt;Text style={{ fontSize: 64, fontWeight: 'bold', color: '#F59E0B', lineHeight: 1.0, fontFamily: &quot;'Space Grotesk','Consolas',sans-serif&quot;, marginBottom: 12 }}&gt;+&lt;/Text&gt;&#10;      &lt;/Box&gt;&#10;      &lt;Text style={{ fontSize: 21, fontWeight: 'bold', color: '#E8EEF7', letterSpacing: 1, fontFamily: &quot;'Source Han Sans SC','Microsoft YaHei',sans-serif&quot; }}&gt;&#10;        项自动化断言 · 全绿&#10;      &lt;/Text&gt;&#10;      &lt;Box style={{ width: '100%', height: 1, background: 'rgba(147,165,190,0.25)', margin: '10px 0' }} /&gt;&#10;      &lt;Text style={{ fontSize: 14.5, color: '#93A5BE', lineHeight: 1.65, fontFamily: &quot;'Source Han Sans SC','Microsoft YaHei',sans-serif&quot; }}&gt;&#10;        覆盖物理复算、业务冒烟、报告装配、前端 DOM 桩端到端、冻结态自检五条独立证据链——&#10;        &lt;span style={{ color: '#22D3EE' }}&gt;改一处引擎，全链重跑&lt;/span&gt;。&#10;      &lt;/Text&gt;&#10;    &lt;/Box&gt;&#10;&#10;    {/* 右：四组锚点数字块（2×2 不等宽错落，非等宽卡片横排） */}&#10;    &lt;Box style={{ flex: 1, flexDirection: 'column', gap: 16 }}&gt;&#10;      &lt;Box style={{ flexDirection: 'row', gap: 16 }}&gt;&#10;        {/* 物理复算 */}&#10;        &lt;Box style={{ flex: 1.15, flexDirection: 'column', gap: 4, padding: '18px 22px', borderRadius: 14, background: 'rgba(245,158,11,0.1)', border: '1px solid rgba(245,158,11,0.45)' }}&gt;&#10;          &lt;Box style={{ flexDirection: 'row', alignItems: 'baseline', gap: 6 }}&gt;&#10;            &lt;Text style={{ fontSize: 52, fontWeight: 'bold', color: '#F59E0B', lineHeight: 1, fontFamily: &quot;'Space Grotesk','Consolas',sans-serif&quot; }}&gt;0&lt;/Text&gt;&#10;            &lt;Text style={{ fontSize: 16, color: '#F59E0B', fontFamily: &quot;'Source Han Sans SC','Microsoft YaHei',sans-serif&quot; }}&gt;失败&lt;/Text&gt;&#10;          &lt;/Box&gt;&#10;          &lt;Text style={{ fontSize: 15, fontWeight: 'bold', color: '#E8EEF7', fontFamily: &quot;'Source Han Sans SC','Microsoft YaHei',sans-serif&quot; }}&gt;独立第一性原理复算&lt;/Text&gt;&#10;          &lt;Text style={{ fontSize: 12, color: '#93A5BE', lineHeight: 1.45, fontFamily: &quot;'Source Han Sans SC','Microsoft YaHei',sans-serif&quot; }}&gt;不复用引擎代码，15 类物理量 × 10 场景交叉验证&lt;/Text&gt;&#10;        &lt;/Box&gt;&#10;        {/* 冻结自检 */}&#10;        &lt;Box style={{ flex: 1, flexDirection: 'column', gap: 4, padding: '18px 22px', borderRadius: 14, background: 'rgba(59,130,246,0.1)', border: '1px solid rgba(59,130,246,0.45)' }}&gt;&#10;          &lt;Box style={{ flexDirection: 'row', alignItems: 'baseline', gap: 6 }}&gt;&#10;            &lt;Text style={{ fontSize: 52, fontWeight: 'bold', color: '#3B82F6', lineHeight: 1, fontFamily: &quot;'Space Grotesk','Consolas',sans-serif&quot; }}&gt;8/8&lt;/Text&gt;&#10;          &lt;/Box&gt;&#10;          &lt;Text style={{ fontSize: 15, fontWeight: 'bold', color: '#E8EEF7', fontFamily: &quot;'Source Han Sans SC','Microsoft YaHei',sans-serif&quot; }}&gt;冻结 exe 场景自检&lt;/Text&gt;&#10;          &lt;Text style={{ fontSize: 12, color: '#93A5BE', lineHeight: 1.45, fontFamily: &quot;'Source Han Sans SC','Microsoft YaHei',sans-serif&quot; }}&gt;GEO/LEO/MEO/HEO 全场景 grade=A，GUI 依赖链完整&lt;/Text&gt;&#10;        &lt;/Box&gt;&#10;      &lt;/Box&gt;&#10;      &lt;Box style={{ flexDirection: 'row', gap: 16 }}&gt;&#10;        {/* DOM E2E */}&#10;        &lt;Box style={{ flex: 1, flexDirection: 'column', gap: 4, padding: '18px 22px', borderRadius: 14, background: 'rgba(34,211,238,0.08)', border: '1px solid rgba(34,211,238,0.4)' }}&gt;&#10;          &lt;Box style={{ flexDirection: 'row', alignItems: 'baseline', gap: 6 }}&gt;&#10;            &lt;Text style={{ fontSize: 52, fontWeight: 'bold', color: '#22D3EE', lineHeight: 1, fontFamily: &quot;'Space Grotesk','Consolas',sans-serif&quot; }}&gt;88&lt;/Text&gt;&#10;            &lt;Text style={{ fontSize: 16, color: '#22D3EE', fontFamily: &quot;'Source Han Sans SC','Microsoft YaHei',sans-serif&quot; }}&gt;项&lt;/Text&gt;&#10;          &lt;/Box&gt;&#10;          &lt;Text style={{ fontSize: 15, fontWeight: 'bold', color: '#E8EEF7', fontFamily: &quot;'Source Han Sans SC','Microsoft YaHei',sans-serif&quot; }}&gt;前端 DOM 桩端到端&lt;/Text&gt;&#10;          &lt;Text style={{ fontSize: 12, color: '#93A5BE', lineHeight: 1.45, fontFamily: &quot;'Source Han Sans SC','Microsoft YaHei',sans-serif&quot; }}&gt;node 加载真实 JS + HTTP API，13 页签全渲染路径&lt;/Text&gt;&#10;        &lt;/Box&gt;&#10;        {/* 报告光栅化 */}&#10;        &lt;Box style={{ flex: 1.15, flexDirection: 'column', gap: 4, padding: '18px 22px', borderRadius: 14, background: 'rgba(147,165,190,0.08)', border: '1px solid rgba(147,165,190,0.35)' }}&gt;&#10;          &lt;Box style={{ flexDirection: 'row', alignItems: 'baseline', gap: 6 }}&gt;&#10;            &lt;Text style={{ fontSize: 52, fontWeight: 'bold', color: '#E8EEF7', lineHeight: 1, fontFamily: &quot;'Space Grotesk','Consolas',sans-serif&quot; }}&gt;18&lt;/Text&gt;&#10;            &lt;Text style={{ fontSize: 16, color: '#93A5BE', fontFamily: &quot;'Source Han Sans SC','Microsoft YaHei',sans-serif&quot; }}&gt;图 / 14 章&lt;/Text&gt;&#10;          &lt;/Box&gt;&#10;          &lt;Text style={{ fontSize: 15, fontWeight: 'bold', color: '#E8EEF7', fontFamily: &quot;'Source Han Sans SC','Microsoft YaHei',sans-serif&quot; }}&gt;Word 报告装配&lt;/Text&gt;&#10;          &lt;Text style={{ fontSize: 12, color: '#93A5BE', lineHeight: 1.45, fontFamily: &quot;'Source Han Sans SC','Microsoft YaHei',sans-serif&quot; }}&gt;SVG 全部经 Edge 无头光栅化内嵌，残留 SVG = 0&lt;/Text&gt;&#10;        &lt;/Box&gt;&#10;      &lt;/Box&gt;&#10;      {/* 洞察句 */}&#10;      &lt;Box style={{&#10;        flexDirection: 'row', alignItems: 'center', gap: 12, padding: '12px 20px', borderRadius: 12,&#10;        background: 'rgba(245,158,11,0.08)', borderLeft: '4px solid #F59E0B',&#10;      }}&gt;&#10;        &lt;Text style={{ fontSize: 14.5, color: '#E8EEF7', lineHeight: 1.55, fontFamily: &quot;'Source Han Sans SC','Microsoft YaHei',sans-serif&quot; }}&gt;&#10;          &lt;span style={{ color: '#F59E0B', fontWeight: 'bold' }}&gt;所以：&lt;/span&gt;物理正确性与工程质量各有独立证据链互不背书——这是敢把离线单 exe 直接交给总体单位的底气。&#10;        &lt;/Text&gt;&#10;      &lt;/Box&gt;&#10;    &lt;/Box&gt;&#10;  &lt;/Box&gt;&#10;&#10;  {/* ============ C 页脚 ============ */}&#10;  &lt;Box style={{ height: 58, padding: '0 70px', flexDirection: 'row', alignItems: 'center', justifyContent: 'space-between', zIndex: 1 }}&gt;&#10;    &lt;Box style={{ flexDirection: 'row', alignItems: 'center', gap: 10 }}&gt;&#10;      &lt;svg width={22} height={22} viewBox='0 0 24 24'&gt;&#10;        &lt;circle cx='12' cy='12' r='5' fill='none' stroke='#3B82F6' strokeWidth='1.4' /&gt;&#10;        &lt;ellipse cx='12' cy='12' rx='10.5' ry='4' fill='none' stroke='#22D3EE' strokeWidth='0.9' opacity='0.7' transform='rotate(-20 12 12)' /&gt;&#10;        &lt;circle cx='21' cy='8.6' r='1.6' fill='#F59E0B' /&gt;&#10;      &lt;/svg&gt;&#10;      &lt;Text style={{ fontSize: 14, color: '#5A6B84', fontFamily: &quot;'Source Han Sans SC','Microsoft YaHei',sans-serif&quot; }}&gt;文生载荷 · 载荷方案设计器&lt;/Text&gt;&#10;    &lt;/Box&gt;&#10;    &lt;Text style={{ fontSize: 14, color: '#5A6B84', fontFamily: &quot;'Space Grotesk','Consolas',sans-serif&quot; }}&gt;04 / 0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B33"/>
              </a:gs>
              <a:gs pos="55000">
                <a:srgbClr val="132C52"/>
              </a:gs>
              <a:gs pos="100000">
                <a:srgbClr val="0B1B33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7620000" y="-1143000"/>
            <a:ext cx="5334000" cy="5334000"/>
          </a:xfrm>
          <a:custGeom>
            <a:pathLst>
              <a:path w="560" h="560">
                <a:moveTo>
                  <a:pt x="480" y="476"/>
                </a:moveTo>
                <a:lnTo>
                  <a:pt x="478" y="478"/>
                </a:lnTo>
                <a:lnTo>
                  <a:pt x="473" y="483"/>
                </a:lnTo>
                <a:lnTo>
                  <a:pt x="468" y="487"/>
                </a:lnTo>
                <a:lnTo>
                  <a:pt x="463" y="492"/>
                </a:lnTo>
                <a:lnTo>
                  <a:pt x="458" y="496"/>
                </a:lnTo>
                <a:lnTo>
                  <a:pt x="453" y="500"/>
                </a:lnTo>
                <a:lnTo>
                  <a:pt x="447" y="504"/>
                </a:lnTo>
                <a:lnTo>
                  <a:pt x="442" y="508"/>
                </a:lnTo>
                <a:lnTo>
                  <a:pt x="437" y="512"/>
                </a:lnTo>
                <a:lnTo>
                  <a:pt x="431" y="516"/>
                </a:lnTo>
                <a:lnTo>
                  <a:pt x="425" y="519"/>
                </a:lnTo>
                <a:lnTo>
                  <a:pt x="419" y="523"/>
                </a:lnTo>
                <a:lnTo>
                  <a:pt x="413" y="526"/>
                </a:lnTo>
                <a:lnTo>
                  <a:pt x="407" y="529"/>
                </a:lnTo>
                <a:lnTo>
                  <a:pt x="401" y="532"/>
                </a:lnTo>
                <a:lnTo>
                  <a:pt x="395" y="535"/>
                </a:lnTo>
                <a:lnTo>
                  <a:pt x="389" y="538"/>
                </a:lnTo>
                <a:lnTo>
                  <a:pt x="383" y="541"/>
                </a:lnTo>
                <a:lnTo>
                  <a:pt x="376" y="543"/>
                </a:lnTo>
                <a:lnTo>
                  <a:pt x="370" y="545"/>
                </a:lnTo>
                <a:lnTo>
                  <a:pt x="363" y="547"/>
                </a:lnTo>
                <a:lnTo>
                  <a:pt x="357" y="549"/>
                </a:lnTo>
                <a:lnTo>
                  <a:pt x="350" y="551"/>
                </a:lnTo>
                <a:lnTo>
                  <a:pt x="343" y="553"/>
                </a:lnTo>
                <a:lnTo>
                  <a:pt x="336" y="554"/>
                </a:lnTo>
                <a:lnTo>
                  <a:pt x="330" y="556"/>
                </a:lnTo>
                <a:lnTo>
                  <a:pt x="323" y="557"/>
                </a:lnTo>
                <a:lnTo>
                  <a:pt x="316" y="558"/>
                </a:lnTo>
                <a:lnTo>
                  <a:pt x="309" y="559"/>
                </a:lnTo>
                <a:lnTo>
                  <a:pt x="302" y="559"/>
                </a:lnTo>
                <a:lnTo>
                  <a:pt x="294" y="560"/>
                </a:lnTo>
                <a:lnTo>
                  <a:pt x="287" y="560"/>
                </a:lnTo>
                <a:lnTo>
                  <a:pt x="280" y="560"/>
                </a:lnTo>
                <a:lnTo>
                  <a:pt x="273" y="560"/>
                </a:lnTo>
                <a:lnTo>
                  <a:pt x="266" y="560"/>
                </a:lnTo>
                <a:lnTo>
                  <a:pt x="258" y="559"/>
                </a:lnTo>
                <a:lnTo>
                  <a:pt x="251" y="559"/>
                </a:lnTo>
                <a:lnTo>
                  <a:pt x="244" y="558"/>
                </a:lnTo>
                <a:lnTo>
                  <a:pt x="237" y="557"/>
                </a:lnTo>
                <a:lnTo>
                  <a:pt x="230" y="556"/>
                </a:lnTo>
                <a:lnTo>
                  <a:pt x="224" y="554"/>
                </a:lnTo>
                <a:lnTo>
                  <a:pt x="217" y="553"/>
                </a:lnTo>
                <a:lnTo>
                  <a:pt x="210" y="551"/>
                </a:lnTo>
                <a:lnTo>
                  <a:pt x="203" y="549"/>
                </a:lnTo>
                <a:lnTo>
                  <a:pt x="197" y="547"/>
                </a:lnTo>
                <a:lnTo>
                  <a:pt x="190" y="545"/>
                </a:lnTo>
                <a:lnTo>
                  <a:pt x="184" y="543"/>
                </a:lnTo>
                <a:lnTo>
                  <a:pt x="177" y="541"/>
                </a:lnTo>
                <a:lnTo>
                  <a:pt x="171" y="538"/>
                </a:lnTo>
                <a:lnTo>
                  <a:pt x="165" y="535"/>
                </a:lnTo>
                <a:lnTo>
                  <a:pt x="159" y="532"/>
                </a:lnTo>
                <a:lnTo>
                  <a:pt x="153" y="529"/>
                </a:lnTo>
                <a:lnTo>
                  <a:pt x="147" y="526"/>
                </a:lnTo>
                <a:lnTo>
                  <a:pt x="141" y="523"/>
                </a:lnTo>
                <a:lnTo>
                  <a:pt x="135" y="519"/>
                </a:lnTo>
                <a:lnTo>
                  <a:pt x="129" y="516"/>
                </a:lnTo>
                <a:lnTo>
                  <a:pt x="123" y="512"/>
                </a:lnTo>
                <a:lnTo>
                  <a:pt x="118" y="508"/>
                </a:lnTo>
                <a:lnTo>
                  <a:pt x="113" y="504"/>
                </a:lnTo>
                <a:lnTo>
                  <a:pt x="107" y="500"/>
                </a:lnTo>
                <a:lnTo>
                  <a:pt x="102" y="496"/>
                </a:lnTo>
                <a:lnTo>
                  <a:pt x="97" y="492"/>
                </a:lnTo>
                <a:lnTo>
                  <a:pt x="92" y="487"/>
                </a:lnTo>
                <a:lnTo>
                  <a:pt x="87" y="483"/>
                </a:lnTo>
                <a:lnTo>
                  <a:pt x="82" y="478"/>
                </a:lnTo>
                <a:lnTo>
                  <a:pt x="77" y="473"/>
                </a:lnTo>
                <a:lnTo>
                  <a:pt x="73" y="468"/>
                </a:lnTo>
                <a:lnTo>
                  <a:pt x="68" y="463"/>
                </a:lnTo>
                <a:lnTo>
                  <a:pt x="64" y="458"/>
                </a:lnTo>
                <a:lnTo>
                  <a:pt x="60" y="453"/>
                </a:lnTo>
                <a:lnTo>
                  <a:pt x="56" y="447"/>
                </a:lnTo>
                <a:lnTo>
                  <a:pt x="52" y="442"/>
                </a:lnTo>
                <a:lnTo>
                  <a:pt x="48" y="437"/>
                </a:lnTo>
                <a:lnTo>
                  <a:pt x="44" y="431"/>
                </a:lnTo>
                <a:lnTo>
                  <a:pt x="41" y="425"/>
                </a:lnTo>
                <a:lnTo>
                  <a:pt x="37" y="419"/>
                </a:lnTo>
                <a:lnTo>
                  <a:pt x="34" y="413"/>
                </a:lnTo>
                <a:lnTo>
                  <a:pt x="31" y="407"/>
                </a:lnTo>
                <a:lnTo>
                  <a:pt x="28" y="401"/>
                </a:lnTo>
                <a:lnTo>
                  <a:pt x="25" y="395"/>
                </a:lnTo>
                <a:lnTo>
                  <a:pt x="22" y="389"/>
                </a:lnTo>
                <a:lnTo>
                  <a:pt x="19" y="383"/>
                </a:lnTo>
                <a:lnTo>
                  <a:pt x="17" y="376"/>
                </a:lnTo>
                <a:lnTo>
                  <a:pt x="15" y="370"/>
                </a:lnTo>
                <a:lnTo>
                  <a:pt x="13" y="363"/>
                </a:lnTo>
                <a:lnTo>
                  <a:pt x="11" y="357"/>
                </a:lnTo>
                <a:lnTo>
                  <a:pt x="9" y="350"/>
                </a:lnTo>
                <a:lnTo>
                  <a:pt x="7" y="343"/>
                </a:lnTo>
                <a:lnTo>
                  <a:pt x="6" y="336"/>
                </a:lnTo>
                <a:lnTo>
                  <a:pt x="4" y="330"/>
                </a:lnTo>
                <a:lnTo>
                  <a:pt x="3" y="323"/>
                </a:lnTo>
                <a:lnTo>
                  <a:pt x="2" y="316"/>
                </a:lnTo>
                <a:lnTo>
                  <a:pt x="1" y="309"/>
                </a:lnTo>
                <a:lnTo>
                  <a:pt x="1" y="302"/>
                </a:lnTo>
                <a:lnTo>
                  <a:pt x="0" y="294"/>
                </a:lnTo>
                <a:lnTo>
                  <a:pt x="0" y="287"/>
                </a:lnTo>
                <a:lnTo>
                  <a:pt x="0" y="280"/>
                </a:lnTo>
                <a:lnTo>
                  <a:pt x="0" y="273"/>
                </a:lnTo>
                <a:lnTo>
                  <a:pt x="0" y="266"/>
                </a:lnTo>
                <a:lnTo>
                  <a:pt x="1" y="258"/>
                </a:lnTo>
                <a:lnTo>
                  <a:pt x="1" y="251"/>
                </a:lnTo>
                <a:lnTo>
                  <a:pt x="2" y="244"/>
                </a:lnTo>
                <a:lnTo>
                  <a:pt x="3" y="237"/>
                </a:lnTo>
                <a:lnTo>
                  <a:pt x="4" y="230"/>
                </a:lnTo>
                <a:lnTo>
                  <a:pt x="6" y="224"/>
                </a:lnTo>
                <a:lnTo>
                  <a:pt x="7" y="217"/>
                </a:lnTo>
                <a:lnTo>
                  <a:pt x="9" y="210"/>
                </a:lnTo>
                <a:lnTo>
                  <a:pt x="11" y="203"/>
                </a:lnTo>
                <a:lnTo>
                  <a:pt x="13" y="197"/>
                </a:lnTo>
                <a:lnTo>
                  <a:pt x="15" y="190"/>
                </a:lnTo>
                <a:lnTo>
                  <a:pt x="17" y="184"/>
                </a:lnTo>
                <a:lnTo>
                  <a:pt x="19" y="177"/>
                </a:lnTo>
                <a:lnTo>
                  <a:pt x="22" y="171"/>
                </a:lnTo>
                <a:lnTo>
                  <a:pt x="25" y="165"/>
                </a:lnTo>
                <a:lnTo>
                  <a:pt x="28" y="159"/>
                </a:lnTo>
                <a:lnTo>
                  <a:pt x="31" y="153"/>
                </a:lnTo>
                <a:lnTo>
                  <a:pt x="34" y="147"/>
                </a:lnTo>
                <a:lnTo>
                  <a:pt x="37" y="141"/>
                </a:lnTo>
                <a:lnTo>
                  <a:pt x="41" y="135"/>
                </a:lnTo>
                <a:lnTo>
                  <a:pt x="44" y="129"/>
                </a:lnTo>
                <a:lnTo>
                  <a:pt x="48" y="123"/>
                </a:lnTo>
                <a:lnTo>
                  <a:pt x="50" y="120"/>
                </a:lnTo>
                <a:lnTo>
                  <a:pt x="480" y="120"/>
                </a:lnTo>
                <a:close/>
              </a:path>
            </a:pathLst>
          </a:custGeom>
          <a:gradFill>
            <a:gsLst>
              <a:gs pos="0">
                <a:srgbClr val="F59E0B">
                  <a:alpha val="14000"/>
                </a:srgbClr>
              </a:gs>
              <a:gs pos="65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-1143000" y="3429000"/>
            <a:ext cx="4953000" cy="4953000"/>
          </a:xfrm>
          <a:custGeom>
            <a:pathLst>
              <a:path w="520" h="520">
                <a:moveTo>
                  <a:pt x="267" y="0"/>
                </a:moveTo>
                <a:lnTo>
                  <a:pt x="273" y="0"/>
                </a:lnTo>
                <a:lnTo>
                  <a:pt x="280" y="1"/>
                </a:lnTo>
                <a:lnTo>
                  <a:pt x="287" y="1"/>
                </a:lnTo>
                <a:lnTo>
                  <a:pt x="293" y="2"/>
                </a:lnTo>
                <a:lnTo>
                  <a:pt x="300" y="3"/>
                </a:lnTo>
                <a:lnTo>
                  <a:pt x="306" y="4"/>
                </a:lnTo>
                <a:lnTo>
                  <a:pt x="312" y="5"/>
                </a:lnTo>
                <a:lnTo>
                  <a:pt x="319" y="7"/>
                </a:lnTo>
                <a:lnTo>
                  <a:pt x="325" y="8"/>
                </a:lnTo>
                <a:lnTo>
                  <a:pt x="331" y="10"/>
                </a:lnTo>
                <a:lnTo>
                  <a:pt x="337" y="12"/>
                </a:lnTo>
                <a:lnTo>
                  <a:pt x="343" y="14"/>
                </a:lnTo>
                <a:lnTo>
                  <a:pt x="349" y="16"/>
                </a:lnTo>
                <a:lnTo>
                  <a:pt x="355" y="18"/>
                </a:lnTo>
                <a:lnTo>
                  <a:pt x="361" y="20"/>
                </a:lnTo>
                <a:lnTo>
                  <a:pt x="367" y="23"/>
                </a:lnTo>
                <a:lnTo>
                  <a:pt x="373" y="26"/>
                </a:lnTo>
                <a:lnTo>
                  <a:pt x="378" y="28"/>
                </a:lnTo>
                <a:lnTo>
                  <a:pt x="384" y="31"/>
                </a:lnTo>
                <a:lnTo>
                  <a:pt x="389" y="34"/>
                </a:lnTo>
                <a:lnTo>
                  <a:pt x="395" y="38"/>
                </a:lnTo>
                <a:lnTo>
                  <a:pt x="400" y="41"/>
                </a:lnTo>
                <a:lnTo>
                  <a:pt x="405" y="44"/>
                </a:lnTo>
                <a:lnTo>
                  <a:pt x="410" y="48"/>
                </a:lnTo>
                <a:lnTo>
                  <a:pt x="416" y="52"/>
                </a:lnTo>
                <a:lnTo>
                  <a:pt x="420" y="55"/>
                </a:lnTo>
                <a:lnTo>
                  <a:pt x="425" y="59"/>
                </a:lnTo>
                <a:lnTo>
                  <a:pt x="430" y="63"/>
                </a:lnTo>
                <a:lnTo>
                  <a:pt x="435" y="68"/>
                </a:lnTo>
                <a:lnTo>
                  <a:pt x="439" y="72"/>
                </a:lnTo>
                <a:lnTo>
                  <a:pt x="444" y="76"/>
                </a:lnTo>
                <a:lnTo>
                  <a:pt x="448" y="81"/>
                </a:lnTo>
                <a:lnTo>
                  <a:pt x="452" y="85"/>
                </a:lnTo>
                <a:lnTo>
                  <a:pt x="457" y="90"/>
                </a:lnTo>
                <a:lnTo>
                  <a:pt x="461" y="95"/>
                </a:lnTo>
                <a:lnTo>
                  <a:pt x="465" y="100"/>
                </a:lnTo>
                <a:lnTo>
                  <a:pt x="468" y="104"/>
                </a:lnTo>
                <a:lnTo>
                  <a:pt x="472" y="110"/>
                </a:lnTo>
                <a:lnTo>
                  <a:pt x="476" y="115"/>
                </a:lnTo>
                <a:lnTo>
                  <a:pt x="479" y="120"/>
                </a:lnTo>
                <a:lnTo>
                  <a:pt x="482" y="125"/>
                </a:lnTo>
                <a:lnTo>
                  <a:pt x="486" y="131"/>
                </a:lnTo>
                <a:lnTo>
                  <a:pt x="489" y="136"/>
                </a:lnTo>
                <a:lnTo>
                  <a:pt x="492" y="142"/>
                </a:lnTo>
                <a:lnTo>
                  <a:pt x="494" y="147"/>
                </a:lnTo>
                <a:lnTo>
                  <a:pt x="497" y="153"/>
                </a:lnTo>
                <a:lnTo>
                  <a:pt x="500" y="159"/>
                </a:lnTo>
                <a:lnTo>
                  <a:pt x="502" y="165"/>
                </a:lnTo>
                <a:lnTo>
                  <a:pt x="504" y="171"/>
                </a:lnTo>
                <a:lnTo>
                  <a:pt x="506" y="177"/>
                </a:lnTo>
                <a:lnTo>
                  <a:pt x="508" y="183"/>
                </a:lnTo>
                <a:lnTo>
                  <a:pt x="510" y="189"/>
                </a:lnTo>
                <a:lnTo>
                  <a:pt x="512" y="195"/>
                </a:lnTo>
                <a:lnTo>
                  <a:pt x="513" y="201"/>
                </a:lnTo>
                <a:lnTo>
                  <a:pt x="515" y="208"/>
                </a:lnTo>
                <a:lnTo>
                  <a:pt x="516" y="214"/>
                </a:lnTo>
                <a:lnTo>
                  <a:pt x="517" y="220"/>
                </a:lnTo>
                <a:lnTo>
                  <a:pt x="518" y="227"/>
                </a:lnTo>
                <a:lnTo>
                  <a:pt x="519" y="233"/>
                </a:lnTo>
                <a:lnTo>
                  <a:pt x="519" y="240"/>
                </a:lnTo>
                <a:lnTo>
                  <a:pt x="520" y="247"/>
                </a:lnTo>
                <a:lnTo>
                  <a:pt x="520" y="253"/>
                </a:lnTo>
                <a:lnTo>
                  <a:pt x="520" y="260"/>
                </a:lnTo>
                <a:lnTo>
                  <a:pt x="520" y="267"/>
                </a:lnTo>
                <a:lnTo>
                  <a:pt x="520" y="273"/>
                </a:lnTo>
                <a:lnTo>
                  <a:pt x="519" y="280"/>
                </a:lnTo>
                <a:lnTo>
                  <a:pt x="519" y="287"/>
                </a:lnTo>
                <a:lnTo>
                  <a:pt x="518" y="293"/>
                </a:lnTo>
                <a:lnTo>
                  <a:pt x="517" y="300"/>
                </a:lnTo>
                <a:lnTo>
                  <a:pt x="516" y="306"/>
                </a:lnTo>
                <a:lnTo>
                  <a:pt x="515" y="312"/>
                </a:lnTo>
                <a:lnTo>
                  <a:pt x="513" y="319"/>
                </a:lnTo>
                <a:lnTo>
                  <a:pt x="512" y="325"/>
                </a:lnTo>
                <a:lnTo>
                  <a:pt x="510" y="331"/>
                </a:lnTo>
                <a:lnTo>
                  <a:pt x="508" y="337"/>
                </a:lnTo>
                <a:lnTo>
                  <a:pt x="506" y="343"/>
                </a:lnTo>
                <a:lnTo>
                  <a:pt x="504" y="349"/>
                </a:lnTo>
                <a:lnTo>
                  <a:pt x="502" y="355"/>
                </a:lnTo>
                <a:lnTo>
                  <a:pt x="500" y="360"/>
                </a:lnTo>
                <a:lnTo>
                  <a:pt x="120" y="360"/>
                </a:lnTo>
                <a:lnTo>
                  <a:pt x="120" y="41"/>
                </a:lnTo>
                <a:lnTo>
                  <a:pt x="125" y="38"/>
                </a:lnTo>
                <a:lnTo>
                  <a:pt x="131" y="34"/>
                </a:lnTo>
                <a:lnTo>
                  <a:pt x="136" y="31"/>
                </a:lnTo>
                <a:lnTo>
                  <a:pt x="142" y="28"/>
                </a:lnTo>
                <a:lnTo>
                  <a:pt x="147" y="26"/>
                </a:lnTo>
                <a:lnTo>
                  <a:pt x="153" y="23"/>
                </a:lnTo>
                <a:lnTo>
                  <a:pt x="159" y="20"/>
                </a:lnTo>
                <a:lnTo>
                  <a:pt x="165" y="18"/>
                </a:lnTo>
                <a:lnTo>
                  <a:pt x="171" y="16"/>
                </a:lnTo>
                <a:lnTo>
                  <a:pt x="177" y="14"/>
                </a:lnTo>
                <a:lnTo>
                  <a:pt x="183" y="12"/>
                </a:lnTo>
                <a:lnTo>
                  <a:pt x="189" y="10"/>
                </a:lnTo>
                <a:lnTo>
                  <a:pt x="195" y="8"/>
                </a:lnTo>
                <a:lnTo>
                  <a:pt x="201" y="7"/>
                </a:lnTo>
                <a:lnTo>
                  <a:pt x="208" y="5"/>
                </a:lnTo>
                <a:lnTo>
                  <a:pt x="214" y="4"/>
                </a:lnTo>
                <a:lnTo>
                  <a:pt x="220" y="3"/>
                </a:lnTo>
                <a:lnTo>
                  <a:pt x="227" y="2"/>
                </a:lnTo>
                <a:lnTo>
                  <a:pt x="233" y="1"/>
                </a:lnTo>
                <a:lnTo>
                  <a:pt x="240" y="1"/>
                </a:lnTo>
                <a:lnTo>
                  <a:pt x="247" y="0"/>
                </a:lnTo>
                <a:lnTo>
                  <a:pt x="253" y="0"/>
                </a:lnTo>
                <a:lnTo>
                  <a:pt x="260" y="0"/>
                </a:lnTo>
                <a:close/>
              </a:path>
            </a:pathLst>
          </a:custGeom>
          <a:gradFill>
            <a:gsLst>
              <a:gs pos="0">
                <a:srgbClr val="3B82F6">
                  <a:alpha val="16000"/>
                </a:srgbClr>
              </a:gs>
              <a:gs pos="65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666750" y="523875"/>
            <a:ext cx="47625" cy="381000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F59E0B"/>
              </a:gs>
              <a:gs pos="100000">
                <a:srgbClr val="22D3EE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66775" y="419100"/>
            <a:ext cx="3143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75">
                <a:solidFill>
                  <a:srgbClr val="E8EEF7"/>
                </a:solidFill>
                <a:latin typeface="Source Han Sans SC"/>
                <a:ea typeface="Source Han Sans SC"/>
              </a:rPr>
              <a:t>全绿验证基线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66775" y="8477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5A6B84"/>
                </a:solidFill>
                <a:latin typeface="Space Grotesk"/>
                <a:ea typeface="Space Grotesk"/>
              </a:rPr>
              <a:t>AUTOMATED VERIFICATION · ALL GREEN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10591800" y="571500"/>
            <a:ext cx="933450" cy="295275"/>
          </a:xfrm>
          <a:prstGeom prst="roundRect">
            <a:avLst>
              <a:gd name="adj" fmla="val 54839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0763250" y="638175"/>
            <a:ext cx="590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Space Grotesk"/>
                <a:ea typeface="Space Grotesk"/>
              </a:rPr>
              <a:t>ALL PASS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66750" y="2457450"/>
            <a:ext cx="1800225" cy="1352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850" b="1" spc="-150">
                <a:solidFill>
                  <a:srgbClr val="F59E0B"/>
                </a:solidFill>
                <a:effectLst>
                  <a:outerShdw blurRad="381000" dist="0" dir="0">
                    <a:srgbClr val="F59E0B">
                      <a:alpha val="35000"/>
                    </a:srgbClr>
                  </a:outerShdw>
                </a:effectLst>
                <a:latin typeface="Space Grotesk"/>
                <a:ea typeface="Space Grotesk"/>
              </a:rPr>
              <a:t>245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2524125" y="2962275"/>
            <a:ext cx="3429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59E0B"/>
                </a:solidFill>
                <a:latin typeface="Space Grotesk"/>
                <a:ea typeface="Space Grotesk"/>
              </a:rPr>
              <a:t>+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66750" y="3867150"/>
            <a:ext cx="1914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75">
                <a:solidFill>
                  <a:srgbClr val="E8EEF7"/>
                </a:solidFill>
                <a:latin typeface="Source Han Sans SC"/>
                <a:ea typeface="Source Han Sans SC"/>
              </a:rPr>
              <a:t>项自动化断言</a:t>
            </a:r>
            <a:r>
              <a:rPr lang="en-US" sz="1575" b="1" spc="75">
                <a:solidFill>
                  <a:srgbClr val="E8EEF7"/>
                </a:solidFill>
                <a:latin typeface="Source Han Sans SC"/>
                <a:ea typeface="Source Han Sans SC"/>
              </a:rPr>
              <a:t> · </a:t>
            </a:r>
            <a:r>
              <a:rPr lang="zh-CN" sz="1575" b="1" spc="75">
                <a:solidFill>
                  <a:srgbClr val="E8EEF7"/>
                </a:solidFill>
                <a:latin typeface="Source Han Sans SC"/>
                <a:ea typeface="Source Han Sans SC"/>
              </a:rPr>
              <a:t>全绿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66750" y="4267200"/>
            <a:ext cx="4095750" cy="9525"/>
          </a:xfrm>
          <a:prstGeom prst="rect">
            <a:avLst/>
          </a:prstGeom>
          <a:solidFill>
            <a:srgbClr val="93A5BE">
              <a:alpha val="25000"/>
            </a:srgbClr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66750" y="4429125"/>
            <a:ext cx="40957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88">
                <a:solidFill>
                  <a:srgbClr val="93A5BE"/>
                </a:solidFill>
                <a:latin typeface="Source Han Sans SC"/>
                <a:ea typeface="Source Han Sans SC"/>
              </a:rPr>
              <a:t>覆盖物理复算、业务冒烟、报告装配、前端</a:t>
            </a:r>
            <a:r>
              <a:rPr lang="en-US" sz="1088">
                <a:solidFill>
                  <a:srgbClr val="93A5BE"/>
                </a:solidFill>
                <a:latin typeface="Source Han Sans SC"/>
                <a:ea typeface="Source Han Sans SC"/>
              </a:rPr>
              <a:t> DOM </a:t>
            </a:r>
            <a:r>
              <a:rPr lang="zh-CN" sz="1088">
                <a:solidFill>
                  <a:srgbClr val="93A5BE"/>
                </a:solidFill>
                <a:latin typeface="Source Han Sans SC"/>
                <a:ea typeface="Source Han Sans SC"/>
              </a:rPr>
              <a:t>桩端到端、冻结态自检五条独立证据链——</a:t>
            </a:r>
            <a:r>
              <a:rPr lang="zh-CN" sz="1088">
                <a:solidFill>
                  <a:srgbClr val="22D3EE"/>
                </a:solidFill>
                <a:latin typeface="Source Han Sans SC"/>
                <a:ea typeface="Source Han Sans SC"/>
              </a:rPr>
              <a:t>改一处引擎，全链重跑</a:t>
            </a:r>
            <a:r>
              <a:rPr lang="zh-CN" sz="1088">
                <a:solidFill>
                  <a:srgbClr val="93A5BE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5143500" y="1600200"/>
            <a:ext cx="3333750" cy="1590675"/>
          </a:xfrm>
          <a:prstGeom prst="roundRect">
            <a:avLst>
              <a:gd name="adj" fmla="val 8383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353050" y="1771650"/>
            <a:ext cx="2762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F59E0B"/>
                </a:solidFill>
                <a:latin typeface="Space Grotesk"/>
                <a:ea typeface="Space Grotesk"/>
              </a:rPr>
              <a:t>0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686425" y="1771650"/>
            <a:ext cx="3048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9E0B"/>
                </a:solidFill>
                <a:latin typeface="Source Han Sans SC"/>
                <a:ea typeface="Source Han Sans SC"/>
              </a:rPr>
              <a:t>失败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353050" y="2409825"/>
            <a:ext cx="2914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EEF7"/>
                </a:solidFill>
                <a:latin typeface="Source Han Sans SC"/>
                <a:ea typeface="Source Han Sans SC"/>
              </a:rPr>
              <a:t>独立第一性原理复算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353050" y="2619375"/>
            <a:ext cx="29146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93A5BE"/>
                </a:solidFill>
                <a:latin typeface="Source Han Sans SC"/>
                <a:ea typeface="Source Han Sans SC"/>
              </a:rPr>
              <a:t>不复用引擎代码，</a:t>
            </a:r>
            <a:r>
              <a:rPr lang="en-US" sz="900">
                <a:solidFill>
                  <a:srgbClr val="93A5BE"/>
                </a:solidFill>
                <a:latin typeface="Source Han Sans SC"/>
                <a:ea typeface="Source Han Sans SC"/>
              </a:rPr>
              <a:t>15 </a:t>
            </a:r>
            <a:r>
              <a:rPr lang="zh-CN" sz="900">
                <a:solidFill>
                  <a:srgbClr val="93A5BE"/>
                </a:solidFill>
                <a:latin typeface="Source Han Sans SC"/>
                <a:ea typeface="Source Han Sans SC"/>
              </a:rPr>
              <a:t>类物理量</a:t>
            </a:r>
            <a:r>
              <a:rPr lang="en-US" sz="900">
                <a:solidFill>
                  <a:srgbClr val="93A5BE"/>
                </a:solidFill>
                <a:latin typeface="Source Han Sans SC"/>
                <a:ea typeface="Source Han Sans SC"/>
              </a:rPr>
              <a:t> × 10 </a:t>
            </a:r>
            <a:r>
              <a:rPr lang="zh-CN" sz="900">
                <a:solidFill>
                  <a:srgbClr val="93A5BE"/>
                </a:solidFill>
                <a:latin typeface="Source Han Sans SC"/>
                <a:ea typeface="Source Han Sans SC"/>
              </a:rPr>
              <a:t>场景交叉验证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8629650" y="1600200"/>
            <a:ext cx="2895600" cy="1590675"/>
          </a:xfrm>
          <a:prstGeom prst="roundRect">
            <a:avLst>
              <a:gd name="adj" fmla="val 8383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839200" y="1771650"/>
            <a:ext cx="81915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3B82F6"/>
                </a:solidFill>
                <a:latin typeface="Space Grotesk"/>
                <a:ea typeface="Space Grotesk"/>
              </a:rPr>
              <a:t>8/8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839200" y="2409825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EEF7"/>
                </a:solidFill>
                <a:latin typeface="Source Han Sans SC"/>
                <a:ea typeface="Source Han Sans SC"/>
              </a:rPr>
              <a:t>冻结</a:t>
            </a:r>
            <a:r>
              <a:rPr lang="en-US" sz="1125" b="1">
                <a:solidFill>
                  <a:srgbClr val="E8EEF7"/>
                </a:solidFill>
                <a:latin typeface="Source Han Sans SC"/>
                <a:ea typeface="Source Han Sans SC"/>
              </a:rPr>
              <a:t> exe </a:t>
            </a:r>
            <a:r>
              <a:rPr lang="zh-CN" sz="1125" b="1">
                <a:solidFill>
                  <a:srgbClr val="E8EEF7"/>
                </a:solidFill>
                <a:latin typeface="Source Han Sans SC"/>
                <a:ea typeface="Source Han Sans SC"/>
              </a:rPr>
              <a:t>场景自检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839200" y="2619375"/>
            <a:ext cx="2476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93A5BE"/>
                </a:solidFill>
                <a:latin typeface="Source Han Sans SC"/>
                <a:ea typeface="Source Han Sans SC"/>
              </a:rPr>
              <a:t>GEO/LEO/MEO/HEO </a:t>
            </a:r>
            <a:r>
              <a:rPr lang="zh-CN" sz="900">
                <a:solidFill>
                  <a:srgbClr val="93A5BE"/>
                </a:solidFill>
                <a:latin typeface="Source Han Sans SC"/>
                <a:ea typeface="Source Han Sans SC"/>
              </a:rPr>
              <a:t>全场景</a:t>
            </a:r>
            <a:r>
              <a:rPr lang="en-US" sz="900">
                <a:solidFill>
                  <a:srgbClr val="93A5BE"/>
                </a:solidFill>
                <a:latin typeface="Source Han Sans SC"/>
                <a:ea typeface="Source Han Sans SC"/>
              </a:rPr>
              <a:t> grade=A</a:t>
            </a:r>
            <a:r>
              <a:rPr lang="zh-CN" sz="900">
                <a:solidFill>
                  <a:srgbClr val="93A5BE"/>
                </a:solidFill>
                <a:latin typeface="Source Han Sans SC"/>
                <a:ea typeface="Source Han Sans SC"/>
              </a:rPr>
              <a:t>，</a:t>
            </a:r>
            <a:r>
              <a:rPr lang="en-US" sz="900">
                <a:solidFill>
                  <a:srgbClr val="93A5BE"/>
                </a:solidFill>
                <a:latin typeface="Source Han Sans SC"/>
                <a:ea typeface="Source Han Sans SC"/>
              </a:rPr>
              <a:t>GUI </a:t>
            </a:r>
            <a:r>
              <a:rPr lang="zh-CN" sz="900">
                <a:solidFill>
                  <a:srgbClr val="93A5BE"/>
                </a:solidFill>
                <a:latin typeface="Source Han Sans SC"/>
                <a:ea typeface="Source Han Sans SC"/>
              </a:rPr>
              <a:t>依赖链完整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5143500" y="3343275"/>
            <a:ext cx="2895600" cy="1590675"/>
          </a:xfrm>
          <a:prstGeom prst="roundRect">
            <a:avLst>
              <a:gd name="adj" fmla="val 8383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353050" y="3514725"/>
            <a:ext cx="55245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22D3EE"/>
                </a:solidFill>
                <a:latin typeface="Space Grotesk"/>
                <a:ea typeface="Space Grotesk"/>
              </a:rPr>
              <a:t>88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962650" y="3514725"/>
            <a:ext cx="1524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2D3EE"/>
                </a:solidFill>
                <a:latin typeface="Source Han Sans SC"/>
                <a:ea typeface="Source Han Sans SC"/>
              </a:rPr>
              <a:t>项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353050" y="4152900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EEF7"/>
                </a:solidFill>
                <a:latin typeface="Source Han Sans SC"/>
                <a:ea typeface="Source Han Sans SC"/>
              </a:rPr>
              <a:t>前端</a:t>
            </a:r>
            <a:r>
              <a:rPr lang="en-US" sz="1125" b="1">
                <a:solidFill>
                  <a:srgbClr val="E8EEF7"/>
                </a:solidFill>
                <a:latin typeface="Source Han Sans SC"/>
                <a:ea typeface="Source Han Sans SC"/>
              </a:rPr>
              <a:t> DOM </a:t>
            </a:r>
            <a:r>
              <a:rPr lang="zh-CN" sz="1125" b="1">
                <a:solidFill>
                  <a:srgbClr val="E8EEF7"/>
                </a:solidFill>
                <a:latin typeface="Source Han Sans SC"/>
                <a:ea typeface="Source Han Sans SC"/>
              </a:rPr>
              <a:t>桩端到端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353050" y="4362450"/>
            <a:ext cx="2476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93A5BE"/>
                </a:solidFill>
                <a:latin typeface="Source Han Sans SC"/>
                <a:ea typeface="Source Han Sans SC"/>
              </a:rPr>
              <a:t>node </a:t>
            </a:r>
            <a:r>
              <a:rPr lang="zh-CN" sz="900">
                <a:solidFill>
                  <a:srgbClr val="93A5BE"/>
                </a:solidFill>
                <a:latin typeface="Source Han Sans SC"/>
                <a:ea typeface="Source Han Sans SC"/>
              </a:rPr>
              <a:t>加载真实</a:t>
            </a:r>
            <a:r>
              <a:rPr lang="en-US" sz="900">
                <a:solidFill>
                  <a:srgbClr val="93A5BE"/>
                </a:solidFill>
                <a:latin typeface="Source Han Sans SC"/>
                <a:ea typeface="Source Han Sans SC"/>
              </a:rPr>
              <a:t> JS + HTTP API</a:t>
            </a:r>
            <a:r>
              <a:rPr lang="zh-CN" sz="900">
                <a:solidFill>
                  <a:srgbClr val="93A5BE"/>
                </a:solidFill>
                <a:latin typeface="Source Han Sans SC"/>
                <a:ea typeface="Source Han Sans SC"/>
              </a:rPr>
              <a:t>，</a:t>
            </a:r>
            <a:r>
              <a:rPr lang="en-US" sz="900">
                <a:solidFill>
                  <a:srgbClr val="93A5BE"/>
                </a:solidFill>
                <a:latin typeface="Source Han Sans SC"/>
                <a:ea typeface="Source Han Sans SC"/>
              </a:rPr>
              <a:t>13 </a:t>
            </a:r>
            <a:r>
              <a:rPr lang="zh-CN" sz="900">
                <a:solidFill>
                  <a:srgbClr val="93A5BE"/>
                </a:solidFill>
                <a:latin typeface="Source Han Sans SC"/>
                <a:ea typeface="Source Han Sans SC"/>
              </a:rPr>
              <a:t>页签全渲染路径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8191500" y="3343275"/>
            <a:ext cx="3333750" cy="1590675"/>
          </a:xfrm>
          <a:prstGeom prst="roundRect">
            <a:avLst>
              <a:gd name="adj" fmla="val 8383"/>
            </a:avLst>
          </a:prstGeom>
          <a:solidFill>
            <a:srgbClr val="93A5BE">
              <a:alpha val="8000"/>
            </a:srgbClr>
          </a:solidFill>
          <a:ln w="12700">
            <a:solidFill>
              <a:srgbClr val="93A5B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401050" y="3514725"/>
            <a:ext cx="55245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E8EEF7"/>
                </a:solidFill>
                <a:latin typeface="Space Grotesk"/>
                <a:ea typeface="Space Grotesk"/>
              </a:rPr>
              <a:t>18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010650" y="3514725"/>
            <a:ext cx="6858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3A5BE"/>
                </a:solidFill>
                <a:latin typeface="Source Han Sans SC"/>
                <a:ea typeface="Source Han Sans SC"/>
              </a:rPr>
              <a:t>图</a:t>
            </a:r>
            <a:r>
              <a:rPr lang="en-US" sz="1200">
                <a:solidFill>
                  <a:srgbClr val="93A5BE"/>
                </a:solidFill>
                <a:latin typeface="Source Han Sans SC"/>
                <a:ea typeface="Source Han Sans SC"/>
              </a:rPr>
              <a:t> / 14 </a:t>
            </a:r>
            <a:r>
              <a:rPr lang="zh-CN" sz="1200">
                <a:solidFill>
                  <a:srgbClr val="93A5BE"/>
                </a:solidFill>
                <a:latin typeface="Source Han Sans SC"/>
                <a:ea typeface="Source Han Sans SC"/>
              </a:rPr>
              <a:t>章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401050" y="4152900"/>
            <a:ext cx="2914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7"/>
                </a:solidFill>
                <a:latin typeface="Source Han Sans SC"/>
                <a:ea typeface="Source Han Sans SC"/>
              </a:rPr>
              <a:t>Word </a:t>
            </a:r>
            <a:r>
              <a:rPr lang="zh-CN" sz="1125" b="1">
                <a:solidFill>
                  <a:srgbClr val="E8EEF7"/>
                </a:solidFill>
                <a:latin typeface="Source Han Sans SC"/>
                <a:ea typeface="Source Han Sans SC"/>
              </a:rPr>
              <a:t>报告装配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401050" y="4362450"/>
            <a:ext cx="29146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00">
                <a:solidFill>
                  <a:srgbClr val="93A5BE"/>
                </a:solidFill>
                <a:latin typeface="Source Han Sans SC"/>
                <a:ea typeface="Source Han Sans SC"/>
              </a:rPr>
              <a:t>SVG </a:t>
            </a:r>
            <a:r>
              <a:rPr lang="zh-CN" sz="900">
                <a:solidFill>
                  <a:srgbClr val="93A5BE"/>
                </a:solidFill>
                <a:latin typeface="Source Han Sans SC"/>
                <a:ea typeface="Source Han Sans SC"/>
              </a:rPr>
              <a:t>全部经</a:t>
            </a:r>
            <a:r>
              <a:rPr lang="en-US" sz="900">
                <a:solidFill>
                  <a:srgbClr val="93A5BE"/>
                </a:solidFill>
                <a:latin typeface="Source Han Sans SC"/>
                <a:ea typeface="Source Han Sans SC"/>
              </a:rPr>
              <a:t> Edge </a:t>
            </a:r>
            <a:r>
              <a:rPr lang="zh-CN" sz="900">
                <a:solidFill>
                  <a:srgbClr val="93A5BE"/>
                </a:solidFill>
                <a:latin typeface="Source Han Sans SC"/>
                <a:ea typeface="Source Han Sans SC"/>
              </a:rPr>
              <a:t>无头光栅化内嵌，残留</a:t>
            </a:r>
            <a:r>
              <a:rPr lang="en-US" sz="900">
                <a:solidFill>
                  <a:srgbClr val="93A5BE"/>
                </a:solidFill>
                <a:latin typeface="Source Han Sans SC"/>
                <a:ea typeface="Source Han Sans SC"/>
              </a:rPr>
              <a:t> SVG = 0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181600" y="5086350"/>
            <a:ext cx="6381750" cy="742950"/>
          </a:xfrm>
          <a:prstGeom prst="roundRect">
            <a:avLst>
              <a:gd name="adj" fmla="val 15385"/>
            </a:avLst>
          </a:prstGeom>
          <a:solidFill>
            <a:srgbClr val="F59E0B">
              <a:alpha val="8000"/>
            </a:srgbClr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5181600" y="5086350"/>
            <a:ext cx="6381750" cy="742950"/>
          </a:xfrm>
          <a:custGeom>
            <a:pathLst>
              <a:path w="670" h="7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70"/>
                </a:lnTo>
                <a:cubicBezTo>
                  <a:pt x="4" y="74"/>
                  <a:pt x="7" y="77"/>
                  <a:pt x="10" y="78"/>
                </a:cubicBezTo>
                <a:cubicBezTo>
                  <a:pt x="4" y="77"/>
                  <a:pt x="0" y="72"/>
                  <a:pt x="0" y="6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372100" y="5200650"/>
            <a:ext cx="5962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88" b="1">
                <a:solidFill>
                  <a:srgbClr val="F59E0B"/>
                </a:solidFill>
                <a:latin typeface="Source Han Sans SC"/>
                <a:ea typeface="Source Han Sans SC"/>
              </a:rPr>
              <a:t>所以：</a:t>
            </a:r>
            <a:r>
              <a:rPr lang="zh-CN" sz="1088">
                <a:solidFill>
                  <a:srgbClr val="E8EEF7"/>
                </a:solidFill>
                <a:latin typeface="Source Han Sans SC"/>
                <a:ea typeface="Source Han Sans SC"/>
              </a:rPr>
              <a:t>物理正确性与工程质量各有独立证据链互不背书——这是敢把离线单</a:t>
            </a:r>
            <a:r>
              <a:rPr lang="en-US" sz="1088">
                <a:solidFill>
                  <a:srgbClr val="E8EEF7"/>
                </a:solidFill>
                <a:latin typeface="Source Han Sans SC"/>
                <a:ea typeface="Source Han Sans SC"/>
              </a:rPr>
              <a:t> exe </a:t>
            </a:r>
            <a:r>
              <a:rPr lang="zh-CN" sz="1088">
                <a:solidFill>
                  <a:srgbClr val="E8EEF7"/>
                </a:solidFill>
                <a:latin typeface="Source Han Sans SC"/>
                <a:ea typeface="Source Han Sans SC"/>
              </a:rPr>
              <a:t>直接交给总体单位的底气。</a:t>
            </a:r>
            <a:endParaRPr/>
          </a:p>
        </p:txBody>
      </p:sp>
      <p:pic>
        <p:nvPicPr>
          <p:cNvPr id="1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6477000"/>
            <a:ext cx="209550" cy="209550"/>
          </a:xfrm>
          <a:prstGeom prst="rect">
            <a:avLst/>
          </a:prstGeom>
          <a:ln/>
        </p:spPr>
      </p:pic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71550" y="6505575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4"/>
                </a:solidFill>
                <a:latin typeface="Source Han Sans SC"/>
                <a:ea typeface="Source Han Sans SC"/>
              </a:rPr>
              <a:t>文生载荷</a:t>
            </a:r>
            <a:r>
              <a:rPr lang="en-US" sz="1050">
                <a:solidFill>
                  <a:srgbClr val="5A6B84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5A6B84"/>
                </a:solidFill>
                <a:latin typeface="Source Han Sans SC"/>
                <a:ea typeface="Source Han Sans SC"/>
              </a:rPr>
              <a:t>载荷方案设计器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010900" y="65055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B84"/>
                </a:solidFill>
                <a:latin typeface="Space Grotesk"/>
                <a:ea typeface="Space Grotesk"/>
              </a:rPr>
              <a:t>04 / 05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37" name="" descr="&lt;Slide style={{&#10;  width: 1280, height: 720, padding: 0,&#10;  background: 'linear-gradient(135deg, #0B1B33 0%, #132C52 55%, #0B1B33 100%)',&#10;  flexDirection: 'column', alignItems: 'center', overflow: 'hidden', position: 'relative',&#10;}}&gt;&#10;  {/* 星点场 + 底部轨道延伸弧（与封面呼应） */}&#10;  &lt;Box style={{ position: 'absolute', top: 0, left: 0, width: 1280, height: 720, zIndex: 0 }}&gt;&#10;    &lt;svg width={1280} height={720} viewBox='0 0 1280 720'&gt;&#10;      &lt;circle cx='180' cy='110' r='1.5' fill='#E8EEF7' opacity='0.45' /&gt;&#10;      &lt;circle cx='420' cy='70' r='1.2' fill='#E8EEF7' opacity='0.35' /&gt;&#10;      &lt;circle cx='900' cy='100' r='1.6' fill='#22D3EE' opacity='0.4' /&gt;&#10;      &lt;circle cx='1120' cy='180' r='1.3' fill='#E8EEF7' opacity='0.4' /&gt;&#10;      &lt;circle cx='90' cy='320' r='1.2' fill='#E8EEF7' opacity='0.3' /&gt;&#10;      &lt;circle cx='1200' cy='380' r='1.4' fill='#E8EEF7' opacity='0.35' /&gt;&#10;      &lt;circle cx='300' cy='240' r='1.1' fill='#E8EEF7' opacity='0.3' /&gt;&#10;      &lt;circle cx='1010' cy='260' r='1.2' fill='#E8EEF7' opacity='0.3' /&gt;&#10;      {/* 底部轨道弧 + 三里程碑节点 */}&#10;      &lt;path d='M -60 700 Q 640 540 1340 700' fill='none' stroke='#3B82F6' strokeWidth='1.4' opacity='0.5' /&gt;&#10;      &lt;path d='M -60 730 Q 640 585 1340 730' fill='none' stroke='#22D3EE' strokeWidth='0.9' opacity='0.3' /&gt;&#10;      &lt;circle cx='300' cy='637' r='5' fill='#3B82F6' /&gt;&#10;      &lt;circle cx='300' cy='637' r='10' fill='none' stroke='#3B82F6' strokeWidth='1' opacity='0.45' /&gt;&#10;      &lt;circle cx='640' cy='614' r='5' fill='#22D3EE' /&gt;&#10;      &lt;circle cx='640' cy='614' r='10' fill='none' stroke='#22D3EE' strokeWidth='1' opacity='0.45' /&gt;&#10;      &lt;circle cx='980' cy='637' r='5' fill='#F59E0B' /&gt;&#10;      &lt;circle cx='980' cy='637' r='10' fill='none' stroke='#F59E0B' strokeWidth='1' opacity='0.45' /&gt;&#10;    &lt;/svg&gt;&#10;  &lt;/Box&gt;&#10;&#10;  {/* ============ 主体：居中金句 ============ */}&#10;  &lt;Box style={{ flex: 1, flexDirection: 'column', alignItems: 'center', justifyContent: 'center', gap: 24, padding: '60px 110px 0 110px', zIndex: 1, width: 1280 }}&gt;&#10;    &lt;Box style={{ flexDirection: 'row', alignItems: 'center', gap: 14 }}&gt;&#10;      &lt;Box style={{ width: 44, height: 1, background: 'rgba(147,165,190,0.5)' }} /&gt;&#10;      &lt;Text style={{ fontSize: 15, color: '#22D3EE', letterSpacing: 4, fontWeight: 600, fontFamily: &quot;'Space Grotesk','Consolas',sans-serif&quot; }}&gt;&#10;        NEXT WEEK · 技术计划&#10;      &lt;/Text&gt;&#10;      &lt;Box style={{ width: 44, height: 1, background: 'rgba(147,165,190,0.5)' }} /&gt;&#10;    &lt;/Box&gt;&#10;&#10;    {/* 收束金句 40px */}&#10;    &lt;Text style={{&#10;      fontSize: 40, fontWeight: 'bold', color: '#E8EEF7', textAlign: 'center', lineHeight: 1.35,&#10;      letterSpacing: 2, fontFamily: &quot;'Source Han Sans SC','Microsoft YaHei',sans-serif&quot;,&#10;    }}&gt;&#10;      让每一 dB 余量&lt;br /&gt;都&lt;span style={{ color: '#F59E0B' }}&gt;有据可查&lt;/span&gt;&#10;    &lt;/Text&gt;&#10;&#10;    {/* 三项计划（横向里程碑，对应底部轨道三节点） */}&#10;    &lt;Box style={{ flexDirection: 'row', gap: 26, marginTop: 26, width: 1060 }}&gt;&#10;      {[&#10;        { n: '1', t: 'GRASP / STK 配置窗口', d: '外部工具接口跨机器持久化，补齐仿真联调链路（v2 中跳过项）', c: '#3B82F6' },&#10;        { n: '2', t: 'v2 源码推送归档', d: '源码与重建预览版 HTML 入 GitHub 仓库，版本可追溯', c: '#22D3EE' },&#10;        { n: '3', t: '软件说明升级 v2', d: '说明文档同步 v2 口径：救援阶梯、角域环、信息流方向语义', c: '#F59E0B' },&#10;      ].map((e, i) =&gt; (&#10;        &lt;Box key={i} style={{&#10;          flex: 1, flexDirection: 'column', gap: 10, alignItems: 'center',&#10;          padding: '20px 22px', borderRadius: 14,&#10;          background: 'rgba(59,130,246,0.07)', border: '1px solid rgba(147,165,190,0.2)',&#10;        }}&gt;&#10;          &lt;Box style={{&#10;            width: 34, height: 34, borderRadius: 17, alignItems: 'center', justifyContent: 'center',&#10;            background: 'rgba(11,27,51,0.8)', border: '1.5px solid ' + e.c,&#10;          }}&gt;&#10;            &lt;Text style={{ fontSize: 16, fontWeight: 'bold', color: e.c, fontFamily: &quot;'Space Grotesk','Consolas',sans-serif&quot; }}&gt;{e.n}&lt;/Text&gt;&#10;          &lt;/Box&gt;&#10;          &lt;Text style={{ fontSize: 17, fontWeight: 'bold', color: '#E8EEF7', textAlign: 'center', fontFamily: &quot;'Source Han Sans SC','Microsoft YaHei',sans-serif&quot; }}&gt;{e.t}&lt;/Text&gt;&#10;          &lt;Text style={{ fontSize: 12.5, color: '#93A5BE', textAlign: 'center', lineHeight: 1.55, fontFamily: &quot;'Source Han Sans SC','Microsoft YaHei',sans-serif&quot; }}&gt;{e.d}&lt;/Text&gt;&#10;        &lt;/Box&gt;&#10;      ))}&#10;    &lt;/Box&gt;&#10;&#10;    {/* 落款 */}&#10;    &lt;Box style={{ flexDirection: 'row', alignItems: 'center', gap: 12, marginTop: 30 }}&gt;&#10;      &lt;Box style={{ width: 3, height: 16, background: '#F59E0B', borderRadius: 2 }} /&gt;&#10;      &lt;Text style={{ fontSize: 14, color: '#5A6B84', letterSpacing: 1, fontFamily: &quot;'Source Han Sans SC','Microsoft YaHei',sans-serif&quot; }}&gt;&#10;        文生载荷项目组 · 2026.09.23&#10;      &lt;/Text&gt;&#10;    &lt;/Box&gt;&#10;  &lt;/Box&gt;&#10;&#10;  {/* 页码 */}&#10;  &lt;Box style={{ position: 'absolute', right: 40, bottom: 24, zIndex: 2, flexDirection: 'row', alignItems: 'center', gap: 8 }}&gt;&#10;    &lt;Text style={{ fontSize: 14, color: '#5A6B84', fontFamily: &quot;'Space Grotesk','Consolas',sans-serif&quot; }}&gt;05&lt;/Text&gt;&#10;    &lt;Box style={{ width: 16, height: 1, background: '#5A6B84' }} /&gt;&#10;    &lt;Text style={{ fontSize: 14, color: '#5A6B84', fontFamily: &quot;'Space Grotesk','Consolas',sans-serif&quot; }}&gt;0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B33"/>
              </a:gs>
              <a:gs pos="55000">
                <a:srgbClr val="132C52"/>
              </a:gs>
              <a:gs pos="100000">
                <a:srgbClr val="0B1B33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40" name=""/>
          <p:cNvSpPr/>
          <p:nvPr/>
        </p:nvSpPr>
        <p:spPr>
          <a:xfrm rot="0" flipH="0" flipV="0">
            <a:off x="4486275" y="1638300"/>
            <a:ext cx="419100" cy="9525"/>
          </a:xfrm>
          <a:prstGeom prst="rect">
            <a:avLst/>
          </a:prstGeom>
          <a:solidFill>
            <a:srgbClr val="93A5BE">
              <a:alpha val="50000"/>
            </a:srgbClr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038725" y="1552575"/>
            <a:ext cx="2124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22D3EE"/>
                </a:solidFill>
                <a:latin typeface="Space Grotesk"/>
                <a:ea typeface="Space Grotesk"/>
              </a:rPr>
              <a:t>NEXT WEEK · </a:t>
            </a:r>
            <a:r>
              <a:rPr lang="zh-CN" sz="1125" b="1" spc="300">
                <a:solidFill>
                  <a:srgbClr val="22D3EE"/>
                </a:solidFill>
                <a:latin typeface="Space Grotesk"/>
                <a:ea typeface="Space Grotesk"/>
              </a:rPr>
              <a:t>技术计划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7296150" y="1638300"/>
            <a:ext cx="419100" cy="9525"/>
          </a:xfrm>
          <a:prstGeom prst="rect">
            <a:avLst/>
          </a:prstGeom>
          <a:solidFill>
            <a:srgbClr val="93A5BE">
              <a:alpha val="50000"/>
            </a:srgbClr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686300" y="1952625"/>
            <a:ext cx="2819400" cy="12382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3000" b="1" spc="150">
                <a:solidFill>
                  <a:srgbClr val="E8EEF7"/>
                </a:solidFill>
                <a:latin typeface="Source Han Sans SC"/>
                <a:ea typeface="Source Han Sans SC"/>
              </a:rPr>
              <a:t>让每一</a:t>
            </a:r>
            <a:r>
              <a:rPr lang="en-US" sz="3000" b="1" spc="150">
                <a:solidFill>
                  <a:srgbClr val="E8EEF7"/>
                </a:solidFill>
                <a:latin typeface="Source Han Sans SC"/>
                <a:ea typeface="Source Han Sans SC"/>
              </a:rPr>
              <a:t> dB </a:t>
            </a:r>
            <a:r>
              <a:rPr lang="zh-CN" sz="3000" b="1" spc="150">
                <a:solidFill>
                  <a:srgbClr val="E8EEF7"/>
                </a:solidFill>
                <a:latin typeface="Source Han Sans SC"/>
                <a:ea typeface="Source Han Sans SC"/>
              </a:rPr>
              <a:t>余量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3000" b="1" spc="150">
                <a:solidFill>
                  <a:srgbClr val="E8EEF7"/>
                </a:solidFill>
                <a:latin typeface="Source Han Sans SC"/>
                <a:ea typeface="Source Han Sans SC"/>
              </a:rPr>
              <a:t>都</a:t>
            </a:r>
            <a:r>
              <a:rPr lang="zh-CN" sz="3000" b="1" spc="150">
                <a:solidFill>
                  <a:srgbClr val="F59E0B"/>
                </a:solidFill>
                <a:latin typeface="Source Han Sans SC"/>
                <a:ea typeface="Source Han Sans SC"/>
              </a:rPr>
              <a:t>有据可查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1047750" y="3667125"/>
            <a:ext cx="3200400" cy="1543050"/>
          </a:xfrm>
          <a:prstGeom prst="roundRect">
            <a:avLst>
              <a:gd name="adj" fmla="val 8642"/>
            </a:avLst>
          </a:prstGeom>
          <a:solidFill>
            <a:srgbClr val="3B82F6">
              <a:alpha val="7000"/>
            </a:srgbClr>
          </a:solidFill>
          <a:ln w="12700">
            <a:solidFill>
              <a:srgbClr val="93A5B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2486025" y="38576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0B1B33">
              <a:alpha val="80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2609850" y="39243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Space Grotesk"/>
                <a:ea typeface="Space Grotesk"/>
              </a:rPr>
              <a:t>1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781175" y="4276725"/>
            <a:ext cx="174307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75" b="1">
                <a:solidFill>
                  <a:srgbClr val="E8EEF7"/>
                </a:solidFill>
                <a:latin typeface="Source Han Sans SC"/>
                <a:ea typeface="Source Han Sans SC"/>
              </a:rPr>
              <a:t>GRASP / STK </a:t>
            </a:r>
            <a:r>
              <a:rPr lang="zh-CN" sz="1275" b="1">
                <a:solidFill>
                  <a:srgbClr val="E8EEF7"/>
                </a:solidFill>
                <a:latin typeface="Source Han Sans SC"/>
                <a:ea typeface="Source Han Sans SC"/>
              </a:rPr>
              <a:t>配置窗口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257300" y="4572000"/>
            <a:ext cx="2781300" cy="44767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外部工具接口跨机器持久化，补齐仿真联调链路（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v2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中跳过项）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4495800" y="3667125"/>
            <a:ext cx="3200400" cy="1543050"/>
          </a:xfrm>
          <a:prstGeom prst="roundRect">
            <a:avLst>
              <a:gd name="adj" fmla="val 8642"/>
            </a:avLst>
          </a:prstGeom>
          <a:solidFill>
            <a:srgbClr val="3B82F6">
              <a:alpha val="7000"/>
            </a:srgbClr>
          </a:solidFill>
          <a:ln w="12700">
            <a:solidFill>
              <a:srgbClr val="93A5B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5934075" y="38576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0B1B33">
              <a:alpha val="80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57900" y="39243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2D3EE"/>
                </a:solidFill>
                <a:latin typeface="Space Grotesk"/>
                <a:ea typeface="Space Grotesk"/>
              </a:rPr>
              <a:t>2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486400" y="4276725"/>
            <a:ext cx="12192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75" b="1">
                <a:solidFill>
                  <a:srgbClr val="E8EEF7"/>
                </a:solidFill>
                <a:latin typeface="Source Han Sans SC"/>
                <a:ea typeface="Source Han Sans SC"/>
              </a:rPr>
              <a:t>v2 </a:t>
            </a:r>
            <a:r>
              <a:rPr lang="zh-CN" sz="1275" b="1">
                <a:solidFill>
                  <a:srgbClr val="E8EEF7"/>
                </a:solidFill>
                <a:latin typeface="Source Han Sans SC"/>
                <a:ea typeface="Source Han Sans SC"/>
              </a:rPr>
              <a:t>源码推送归档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4705350" y="4572000"/>
            <a:ext cx="2781300" cy="44767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源码与重建预览版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HTML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入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GitHub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仓库，版本可追溯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7943850" y="3667125"/>
            <a:ext cx="3200400" cy="1543050"/>
          </a:xfrm>
          <a:prstGeom prst="roundRect">
            <a:avLst>
              <a:gd name="adj" fmla="val 8642"/>
            </a:avLst>
          </a:prstGeom>
          <a:solidFill>
            <a:srgbClr val="3B82F6">
              <a:alpha val="7000"/>
            </a:srgbClr>
          </a:solidFill>
          <a:ln w="12700">
            <a:solidFill>
              <a:srgbClr val="93A5B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9382125" y="38576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0B1B33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9505950" y="39243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Space Grotesk"/>
                <a:ea typeface="Space Grotesk"/>
              </a:rPr>
              <a:t>3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934450" y="4276725"/>
            <a:ext cx="12192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E8EEF7"/>
                </a:solidFill>
                <a:latin typeface="Source Han Sans SC"/>
                <a:ea typeface="Source Han Sans SC"/>
              </a:rPr>
              <a:t>软件说明升级</a:t>
            </a:r>
            <a:r>
              <a:rPr lang="en-US" sz="1275" b="1">
                <a:solidFill>
                  <a:srgbClr val="E8EEF7"/>
                </a:solidFill>
                <a:latin typeface="Source Han Sans SC"/>
                <a:ea typeface="Source Han Sans SC"/>
              </a:rPr>
              <a:t> v2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153400" y="4572000"/>
            <a:ext cx="2781300" cy="44767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说明文档同步</a:t>
            </a:r>
            <a:r>
              <a:rPr lang="en-US" sz="938">
                <a:solidFill>
                  <a:srgbClr val="93A5BE"/>
                </a:solidFill>
                <a:latin typeface="Source Han Sans SC"/>
                <a:ea typeface="Source Han Sans SC"/>
              </a:rPr>
              <a:t> v2 </a:t>
            </a:r>
            <a:r>
              <a:rPr lang="zh-CN" sz="938">
                <a:solidFill>
                  <a:srgbClr val="93A5BE"/>
                </a:solidFill>
                <a:latin typeface="Source Han Sans SC"/>
                <a:ea typeface="Source Han Sans SC"/>
              </a:rPr>
              <a:t>口径：救援阶梯、角域环、信息流方向语义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5057775" y="573405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200650" y="5724525"/>
            <a:ext cx="1933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5A6B84"/>
                </a:solidFill>
                <a:latin typeface="Source Han Sans SC"/>
                <a:ea typeface="Source Han Sans SC"/>
              </a:rPr>
              <a:t>文生载荷项目组</a:t>
            </a:r>
            <a:r>
              <a:rPr lang="en-US" sz="1050" spc="75">
                <a:solidFill>
                  <a:srgbClr val="5A6B84"/>
                </a:solidFill>
                <a:latin typeface="Source Han Sans SC"/>
                <a:ea typeface="Source Han Sans SC"/>
              </a:rPr>
              <a:t> · 2026.09.23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1201400" y="64674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B84"/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11430000" y="6543675"/>
            <a:ext cx="152400" cy="9525"/>
          </a:xfrm>
          <a:prstGeom prst="rect">
            <a:avLst/>
          </a:prstGeom>
          <a:solidFill>
            <a:srgbClr val="5A6B84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658600" y="64674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B84"/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2026-09-23T22:10:08Z</dcterms:created>
  <dcterms:modified xsi:type="dcterms:W3CDTF">2026-09-23T22:10:08Z</dcterms:modified>
</cp:coreProperties>
</file>